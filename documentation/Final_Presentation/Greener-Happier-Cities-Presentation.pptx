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CEAF7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12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92B8E-43D2-40FC-9487-AF9538DD3441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A4DFB-7095-4783-8B52-36260BAAB3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35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Hello and </a:t>
            </a:r>
            <a:r>
              <a:rPr lang="de-DE" dirty="0" err="1"/>
              <a:t>welcome</a:t>
            </a:r>
            <a:r>
              <a:rPr lang="de-DE" dirty="0"/>
              <a:t> to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!</a:t>
            </a:r>
          </a:p>
          <a:p>
            <a:r>
              <a:rPr lang="de-DE" dirty="0"/>
              <a:t>As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,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„Are Greener Cities </a:t>
            </a:r>
            <a:r>
              <a:rPr lang="de-DE" dirty="0" err="1"/>
              <a:t>Happier</a:t>
            </a:r>
            <a:r>
              <a:rPr lang="de-DE" dirty="0"/>
              <a:t>?“</a:t>
            </a:r>
            <a:br>
              <a:rPr lang="de-DE" dirty="0"/>
            </a:br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little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of urban </a:t>
            </a:r>
            <a:r>
              <a:rPr lang="de-DE" dirty="0" err="1"/>
              <a:t>greenes</a:t>
            </a:r>
            <a:r>
              <a:rPr lang="de-DE" dirty="0"/>
              <a:t> &amp; </a:t>
            </a:r>
            <a:r>
              <a:rPr lang="de-DE" dirty="0" err="1"/>
              <a:t>life</a:t>
            </a:r>
            <a:r>
              <a:rPr lang="de-DE" dirty="0"/>
              <a:t> </a:t>
            </a:r>
            <a:r>
              <a:rPr lang="de-DE" dirty="0" err="1"/>
              <a:t>satisfaction</a:t>
            </a:r>
            <a:r>
              <a:rPr lang="de-DE" dirty="0"/>
              <a:t> in European </a:t>
            </a:r>
            <a:r>
              <a:rPr lang="de-DE" dirty="0" err="1"/>
              <a:t>cities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D7A-4409-4929-AFD1-E45C88CB428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217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First of on </a:t>
            </a:r>
            <a:r>
              <a:rPr lang="de-DE" dirty="0" err="1"/>
              <a:t>how</a:t>
            </a:r>
            <a:r>
              <a:rPr lang="de-DE" dirty="0"/>
              <a:t> I </a:t>
            </a:r>
            <a:r>
              <a:rPr lang="de-DE" dirty="0" err="1"/>
              <a:t>got</a:t>
            </a:r>
            <a:r>
              <a:rPr lang="de-DE" dirty="0"/>
              <a:t> to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:</a:t>
            </a:r>
            <a:br>
              <a:rPr lang="de-DE" dirty="0"/>
            </a:br>
            <a:endParaRPr lang="de-DE" dirty="0"/>
          </a:p>
          <a:p>
            <a:r>
              <a:rPr lang="de-DE" dirty="0"/>
              <a:t>For </a:t>
            </a:r>
            <a:r>
              <a:rPr lang="de-DE" dirty="0" err="1"/>
              <a:t>me</a:t>
            </a:r>
            <a:r>
              <a:rPr lang="de-DE" dirty="0"/>
              <a:t>, </a:t>
            </a:r>
            <a:r>
              <a:rPr lang="de-DE" dirty="0" err="1"/>
              <a:t>especially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university</a:t>
            </a:r>
            <a:r>
              <a:rPr lang="de-DE" dirty="0"/>
              <a:t> and </a:t>
            </a:r>
            <a:r>
              <a:rPr lang="de-DE" dirty="0" err="1"/>
              <a:t>school</a:t>
            </a:r>
            <a:r>
              <a:rPr lang="de-DE" dirty="0"/>
              <a:t>, </a:t>
            </a:r>
            <a:r>
              <a:rPr lang="de-DE" dirty="0" err="1"/>
              <a:t>days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quite</a:t>
            </a:r>
            <a:r>
              <a:rPr lang="de-DE" dirty="0"/>
              <a:t> </a:t>
            </a:r>
            <a:r>
              <a:rPr lang="de-DE" dirty="0" err="1"/>
              <a:t>repetetive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same </a:t>
            </a:r>
            <a:r>
              <a:rPr lang="de-DE" dirty="0" err="1"/>
              <a:t>ways</a:t>
            </a:r>
            <a:r>
              <a:rPr lang="de-DE" dirty="0"/>
              <a:t> and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and to </a:t>
            </a:r>
            <a:r>
              <a:rPr lang="de-DE" dirty="0" err="1"/>
              <a:t>school</a:t>
            </a:r>
            <a:r>
              <a:rPr lang="de-DE" dirty="0"/>
              <a:t>/uni</a:t>
            </a:r>
          </a:p>
          <a:p>
            <a:r>
              <a:rPr lang="de-DE" dirty="0" err="1"/>
              <a:t>Since</a:t>
            </a:r>
            <a:r>
              <a:rPr lang="de-DE" dirty="0"/>
              <a:t> it was </a:t>
            </a:r>
            <a:r>
              <a:rPr lang="de-DE" dirty="0" err="1"/>
              <a:t>right</a:t>
            </a:r>
            <a:r>
              <a:rPr lang="de-DE" dirty="0"/>
              <a:t> in the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center</a:t>
            </a:r>
            <a:r>
              <a:rPr lang="de-DE" dirty="0"/>
              <a:t>, it was just </a:t>
            </a:r>
            <a:r>
              <a:rPr lang="de-DE" dirty="0" err="1"/>
              <a:t>roads</a:t>
            </a:r>
            <a:r>
              <a:rPr lang="de-DE" dirty="0"/>
              <a:t>, </a:t>
            </a:r>
            <a:r>
              <a:rPr lang="de-DE" dirty="0" err="1"/>
              <a:t>cars</a:t>
            </a:r>
            <a:r>
              <a:rPr lang="de-DE" dirty="0"/>
              <a:t> and </a:t>
            </a:r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colorless</a:t>
            </a:r>
            <a:r>
              <a:rPr lang="de-DE" dirty="0"/>
              <a:t> </a:t>
            </a:r>
            <a:r>
              <a:rPr lang="de-DE" dirty="0" err="1"/>
              <a:t>blocks</a:t>
            </a:r>
            <a:r>
              <a:rPr lang="de-DE" dirty="0"/>
              <a:t> </a:t>
            </a:r>
            <a:r>
              <a:rPr lang="de-DE" dirty="0" err="1"/>
              <a:t>surrounding</a:t>
            </a:r>
            <a:r>
              <a:rPr lang="de-DE" dirty="0"/>
              <a:t> me.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7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on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home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just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ways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the </a:t>
            </a:r>
            <a:r>
              <a:rPr lang="de-DE" dirty="0" err="1"/>
              <a:t>city</a:t>
            </a:r>
            <a:r>
              <a:rPr lang="de-DE" dirty="0"/>
              <a:t> I </a:t>
            </a:r>
            <a:r>
              <a:rPr lang="de-DE" dirty="0" err="1"/>
              <a:t>started</a:t>
            </a:r>
            <a:r>
              <a:rPr lang="de-DE" dirty="0"/>
              <a:t> to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detours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nearby</a:t>
            </a:r>
            <a:r>
              <a:rPr lang="de-DE" dirty="0"/>
              <a:t> </a:t>
            </a:r>
            <a:r>
              <a:rPr lang="de-DE" dirty="0" err="1"/>
              <a:t>parks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green</a:t>
            </a:r>
            <a:r>
              <a:rPr lang="de-DE" dirty="0"/>
              <a:t> and </a:t>
            </a:r>
            <a:r>
              <a:rPr lang="de-DE" dirty="0" err="1"/>
              <a:t>colourful</a:t>
            </a:r>
            <a:r>
              <a:rPr lang="de-DE" dirty="0"/>
              <a:t> </a:t>
            </a:r>
            <a:r>
              <a:rPr lang="de-DE" dirty="0" err="1"/>
              <a:t>areas</a:t>
            </a:r>
            <a:r>
              <a:rPr lang="de-DE" dirty="0"/>
              <a:t>.</a:t>
            </a:r>
          </a:p>
          <a:p>
            <a:r>
              <a:rPr lang="de-DE" dirty="0"/>
              <a:t>It was a </a:t>
            </a:r>
            <a:r>
              <a:rPr lang="de-DE" dirty="0" err="1"/>
              <a:t>way</a:t>
            </a:r>
            <a:r>
              <a:rPr lang="de-DE" dirty="0"/>
              <a:t> to </a:t>
            </a:r>
            <a:r>
              <a:rPr lang="de-DE" dirty="0" err="1"/>
              <a:t>walk</a:t>
            </a:r>
            <a:r>
              <a:rPr lang="de-DE" dirty="0"/>
              <a:t>, relax and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away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/>
              <a:t>busy</a:t>
            </a:r>
            <a:r>
              <a:rPr lang="de-DE" dirty="0"/>
              <a:t> </a:t>
            </a:r>
            <a:r>
              <a:rPr lang="de-DE" dirty="0" err="1"/>
              <a:t>pace</a:t>
            </a:r>
            <a:r>
              <a:rPr lang="de-DE" dirty="0"/>
              <a:t> of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life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293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And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back to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ARE GREENER CITIES ACTUALLY HAPPIER?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595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 </a:t>
            </a:r>
            <a:r>
              <a:rPr lang="de-DE" dirty="0" err="1"/>
              <a:t>answer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, </a:t>
            </a:r>
            <a:r>
              <a:rPr lang="de-DE" dirty="0" err="1"/>
              <a:t>I‘d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a </a:t>
            </a:r>
            <a:r>
              <a:rPr lang="de-DE" dirty="0" err="1"/>
              <a:t>way</a:t>
            </a:r>
            <a:r>
              <a:rPr lang="de-DE" dirty="0"/>
              <a:t> to </a:t>
            </a:r>
            <a:r>
              <a:rPr lang="de-DE" dirty="0" err="1"/>
              <a:t>define</a:t>
            </a:r>
            <a:r>
              <a:rPr lang="de-DE" dirty="0"/>
              <a:t> and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to </a:t>
            </a:r>
            <a:r>
              <a:rPr lang="de-DE" dirty="0" err="1"/>
              <a:t>measure</a:t>
            </a:r>
            <a:r>
              <a:rPr lang="de-DE" dirty="0"/>
              <a:t> „</a:t>
            </a:r>
            <a:r>
              <a:rPr lang="de-DE" dirty="0" err="1"/>
              <a:t>green</a:t>
            </a:r>
            <a:r>
              <a:rPr lang="de-DE" dirty="0"/>
              <a:t>“ for a </a:t>
            </a:r>
            <a:r>
              <a:rPr lang="de-DE" dirty="0" err="1"/>
              <a:t>city</a:t>
            </a:r>
            <a:endParaRPr lang="de-DE" dirty="0"/>
          </a:p>
          <a:p>
            <a:r>
              <a:rPr lang="de-DE" dirty="0"/>
              <a:t>For </a:t>
            </a:r>
            <a:r>
              <a:rPr lang="de-DE" dirty="0" err="1"/>
              <a:t>this</a:t>
            </a:r>
            <a:r>
              <a:rPr lang="de-DE" dirty="0"/>
              <a:t> I </a:t>
            </a:r>
            <a:r>
              <a:rPr lang="de-DE" dirty="0" err="1"/>
              <a:t>used</a:t>
            </a:r>
            <a:r>
              <a:rPr lang="de-DE" dirty="0"/>
              <a:t> the </a:t>
            </a:r>
            <a:r>
              <a:rPr lang="de-DE" dirty="0" err="1"/>
              <a:t>Europoean</a:t>
            </a:r>
            <a:r>
              <a:rPr lang="de-DE" dirty="0"/>
              <a:t> Environment </a:t>
            </a:r>
            <a:r>
              <a:rPr lang="de-DE" dirty="0" err="1"/>
              <a:t>Agency‘s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the Urban Atlas, 2018. </a:t>
            </a:r>
          </a:p>
          <a:p>
            <a:r>
              <a:rPr lang="de-DE" dirty="0"/>
              <a:t>While I </a:t>
            </a:r>
            <a:r>
              <a:rPr lang="de-DE" dirty="0" err="1"/>
              <a:t>took</a:t>
            </a:r>
            <a:r>
              <a:rPr lang="de-DE" dirty="0"/>
              <a:t> all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, Urban Green Space, Urban Tree Cover,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was on „total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“,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that‘s</a:t>
            </a:r>
            <a:r>
              <a:rPr lang="de-DE" dirty="0"/>
              <a:t> the </a:t>
            </a:r>
            <a:r>
              <a:rPr lang="de-DE" dirty="0" err="1"/>
              <a:t>closet</a:t>
            </a:r>
            <a:r>
              <a:rPr lang="de-DE" dirty="0"/>
              <a:t> and </a:t>
            </a:r>
            <a:r>
              <a:rPr lang="de-DE" dirty="0" err="1"/>
              <a:t>broadest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fitting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question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362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same </a:t>
            </a:r>
            <a:r>
              <a:rPr lang="de-DE" dirty="0" err="1"/>
              <a:t>goes</a:t>
            </a:r>
            <a:r>
              <a:rPr lang="de-DE" dirty="0"/>
              <a:t> for </a:t>
            </a:r>
            <a:r>
              <a:rPr lang="de-DE" dirty="0" err="1"/>
              <a:t>measuring</a:t>
            </a:r>
            <a:r>
              <a:rPr lang="de-DE" dirty="0"/>
              <a:t> </a:t>
            </a:r>
            <a:r>
              <a:rPr lang="de-DE" dirty="0" err="1"/>
              <a:t>happiness</a:t>
            </a:r>
            <a:r>
              <a:rPr lang="de-DE" dirty="0"/>
              <a:t>: </a:t>
            </a:r>
          </a:p>
          <a:p>
            <a:r>
              <a:rPr lang="de-DE" dirty="0"/>
              <a:t>I </a:t>
            </a:r>
            <a:r>
              <a:rPr lang="de-DE" dirty="0" err="1"/>
              <a:t>looked</a:t>
            </a:r>
            <a:r>
              <a:rPr lang="de-DE" dirty="0"/>
              <a:t> at LIFE SATISFACTION:</a:t>
            </a:r>
            <a:br>
              <a:rPr lang="de-DE" dirty="0"/>
            </a:br>
            <a:r>
              <a:rPr lang="de-DE" dirty="0"/>
              <a:t>For </a:t>
            </a:r>
            <a:r>
              <a:rPr lang="de-DE" dirty="0" err="1"/>
              <a:t>this</a:t>
            </a:r>
            <a:r>
              <a:rPr lang="de-DE" dirty="0"/>
              <a:t> I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/>
              <a:t>European‘s</a:t>
            </a:r>
            <a:r>
              <a:rPr lang="de-DE" dirty="0"/>
              <a:t> </a:t>
            </a:r>
            <a:r>
              <a:rPr lang="de-DE" dirty="0" err="1"/>
              <a:t>Comission‘s</a:t>
            </a:r>
            <a:r>
              <a:rPr lang="de-DE" dirty="0"/>
              <a:t> Quality of Life Survey, 2019</a:t>
            </a:r>
          </a:p>
          <a:p>
            <a:endParaRPr lang="de-DE" dirty="0"/>
          </a:p>
          <a:p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 for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endParaRPr lang="de-DE" dirty="0"/>
          </a:p>
          <a:p>
            <a:r>
              <a:rPr lang="de-DE" dirty="0"/>
              <a:t>„YOU ARE SATISFIED TO LIVE IN THIS CITY“</a:t>
            </a:r>
            <a:br>
              <a:rPr lang="de-DE" dirty="0"/>
            </a:br>
            <a:br>
              <a:rPr lang="de-DE" dirty="0"/>
            </a:br>
            <a:r>
              <a:rPr lang="de-DE" dirty="0"/>
              <a:t>„GREEN SPACES SUCH AS PUBLIC PARCS OR GARDENS“ (</a:t>
            </a:r>
            <a:r>
              <a:rPr lang="de-DE" dirty="0" err="1"/>
              <a:t>Satisfaction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130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From the </a:t>
            </a:r>
            <a:r>
              <a:rPr lang="de-DE" dirty="0" err="1"/>
              <a:t>datasets</a:t>
            </a:r>
            <a:r>
              <a:rPr lang="de-DE" dirty="0"/>
              <a:t> I </a:t>
            </a:r>
            <a:r>
              <a:rPr lang="de-DE" dirty="0" err="1"/>
              <a:t>get</a:t>
            </a:r>
            <a:r>
              <a:rPr lang="de-DE" dirty="0"/>
              <a:t> 29 </a:t>
            </a:r>
            <a:r>
              <a:rPr lang="de-DE" dirty="0" err="1"/>
              <a:t>overlapping</a:t>
            </a:r>
            <a:r>
              <a:rPr lang="de-DE" dirty="0"/>
              <a:t> </a:t>
            </a:r>
            <a:r>
              <a:rPr lang="de-DE" dirty="0" err="1"/>
              <a:t>citites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all </a:t>
            </a:r>
            <a:r>
              <a:rPr lang="de-DE" dirty="0" err="1"/>
              <a:t>capitals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Since</a:t>
            </a:r>
            <a:r>
              <a:rPr lang="de-DE" dirty="0"/>
              <a:t> the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speaks</a:t>
            </a:r>
            <a:r>
              <a:rPr lang="de-DE" dirty="0"/>
              <a:t> of the </a:t>
            </a:r>
            <a:r>
              <a:rPr lang="de-DE" dirty="0" err="1"/>
              <a:t>quality</a:t>
            </a:r>
            <a:r>
              <a:rPr lang="de-DE" dirty="0"/>
              <a:t> of </a:t>
            </a:r>
            <a:r>
              <a:rPr lang="de-DE" dirty="0" err="1"/>
              <a:t>life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in small and medium-</a:t>
            </a:r>
            <a:r>
              <a:rPr lang="de-DE" dirty="0" err="1"/>
              <a:t>sized</a:t>
            </a:r>
            <a:r>
              <a:rPr lang="de-DE" dirty="0"/>
              <a:t> </a:t>
            </a:r>
            <a:r>
              <a:rPr lang="de-DE" dirty="0" err="1"/>
              <a:t>cities</a:t>
            </a:r>
            <a:r>
              <a:rPr lang="de-DE" dirty="0"/>
              <a:t>, </a:t>
            </a:r>
            <a:r>
              <a:rPr lang="de-DE" dirty="0" err="1"/>
              <a:t>capitals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ideal </a:t>
            </a:r>
            <a:r>
              <a:rPr lang="de-DE" dirty="0" err="1"/>
              <a:t>candidates</a:t>
            </a:r>
            <a:r>
              <a:rPr lang="de-DE" dirty="0"/>
              <a:t> to </a:t>
            </a:r>
            <a:r>
              <a:rPr lang="de-DE" dirty="0" err="1"/>
              <a:t>compare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they‘re</a:t>
            </a:r>
            <a:r>
              <a:rPr lang="de-DE" dirty="0"/>
              <a:t> 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bigger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16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the </a:t>
            </a:r>
            <a:r>
              <a:rPr lang="de-DE" dirty="0" err="1"/>
              <a:t>data</a:t>
            </a:r>
            <a:r>
              <a:rPr lang="de-DE" dirty="0"/>
              <a:t> I end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for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endParaRPr lang="de-DE" dirty="0"/>
          </a:p>
          <a:p>
            <a:r>
              <a:rPr lang="de-DE" dirty="0"/>
              <a:t>I </a:t>
            </a:r>
            <a:r>
              <a:rPr lang="de-DE" dirty="0" err="1"/>
              <a:t>summarized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positive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/>
              <a:t>survey</a:t>
            </a:r>
            <a:r>
              <a:rPr lang="de-DE" dirty="0"/>
              <a:t> for </a:t>
            </a:r>
            <a:r>
              <a:rPr lang="de-DE" dirty="0" err="1"/>
              <a:t>city</a:t>
            </a:r>
            <a:r>
              <a:rPr lang="de-DE" dirty="0"/>
              <a:t> and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satisfaction</a:t>
            </a:r>
            <a:r>
              <a:rPr lang="de-DE" dirty="0"/>
              <a:t> </a:t>
            </a:r>
            <a:r>
              <a:rPr lang="de-DE" dirty="0" err="1"/>
              <a:t>into</a:t>
            </a:r>
            <a:br>
              <a:rPr lang="de-DE" dirty="0"/>
            </a:br>
            <a:br>
              <a:rPr lang="de-DE" dirty="0"/>
            </a:br>
            <a:r>
              <a:rPr lang="de-DE" dirty="0"/>
              <a:t>CITY SATISFACTION </a:t>
            </a:r>
            <a:br>
              <a:rPr lang="de-DE" dirty="0"/>
            </a:br>
            <a:r>
              <a:rPr lang="de-DE" dirty="0"/>
              <a:t>GREEN SPACE SATISFACTION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526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Before</a:t>
            </a:r>
            <a:r>
              <a:rPr lang="de-DE" dirty="0"/>
              <a:t> I </a:t>
            </a:r>
            <a:r>
              <a:rPr lang="de-DE" dirty="0" err="1"/>
              <a:t>started</a:t>
            </a:r>
            <a:r>
              <a:rPr lang="de-DE" dirty="0"/>
              <a:t> a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dive</a:t>
            </a:r>
            <a:r>
              <a:rPr lang="de-DE" dirty="0"/>
              <a:t> I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a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I </a:t>
            </a:r>
            <a:r>
              <a:rPr lang="de-DE" dirty="0" err="1"/>
              <a:t>looked</a:t>
            </a:r>
            <a:r>
              <a:rPr lang="de-DE" dirty="0"/>
              <a:t> at the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total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satisfaction</a:t>
            </a:r>
            <a:r>
              <a:rPr lang="de-DE" dirty="0"/>
              <a:t> /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happy in the </a:t>
            </a:r>
            <a:r>
              <a:rPr lang="de-DE" dirty="0" err="1"/>
              <a:t>city</a:t>
            </a:r>
            <a:r>
              <a:rPr lang="de-DE" dirty="0"/>
              <a:t> to </a:t>
            </a:r>
          </a:p>
          <a:p>
            <a:r>
              <a:rPr lang="de-DE" dirty="0"/>
              <a:t>Total Green Infrastructure</a:t>
            </a:r>
          </a:p>
          <a:p>
            <a:endParaRPr lang="de-DE" dirty="0"/>
          </a:p>
          <a:p>
            <a:r>
              <a:rPr lang="de-DE" dirty="0"/>
              <a:t>Urban Green Space</a:t>
            </a:r>
            <a:br>
              <a:rPr lang="de-DE" dirty="0"/>
            </a:br>
            <a:r>
              <a:rPr lang="de-DE" dirty="0"/>
              <a:t>Urban Tree Cover,</a:t>
            </a:r>
          </a:p>
          <a:p>
            <a:endParaRPr lang="de-DE" dirty="0"/>
          </a:p>
          <a:p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the </a:t>
            </a:r>
            <a:r>
              <a:rPr lang="de-DE" dirty="0" err="1"/>
              <a:t>cities</a:t>
            </a:r>
            <a:r>
              <a:rPr lang="de-DE" dirty="0"/>
              <a:t> scattered </a:t>
            </a:r>
            <a:r>
              <a:rPr lang="de-DE" dirty="0" err="1"/>
              <a:t>around</a:t>
            </a:r>
            <a:r>
              <a:rPr lang="de-DE" dirty="0"/>
              <a:t>, but </a:t>
            </a:r>
            <a:r>
              <a:rPr lang="de-DE" dirty="0" err="1"/>
              <a:t>over</a:t>
            </a:r>
            <a:r>
              <a:rPr lang="de-DE" dirty="0"/>
              <a:t> all it </a:t>
            </a:r>
            <a:r>
              <a:rPr lang="de-DE" dirty="0" err="1"/>
              <a:t>hints</a:t>
            </a:r>
            <a:r>
              <a:rPr lang="de-DE" dirty="0"/>
              <a:t> to an </a:t>
            </a:r>
            <a:r>
              <a:rPr lang="de-DE" dirty="0" err="1"/>
              <a:t>upward</a:t>
            </a:r>
            <a:r>
              <a:rPr lang="de-DE" dirty="0"/>
              <a:t> </a:t>
            </a:r>
            <a:r>
              <a:rPr lang="de-DE" dirty="0" err="1"/>
              <a:t>trend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5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is</a:t>
            </a:r>
            <a:r>
              <a:rPr lang="de-DE" dirty="0"/>
              <a:t> the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</a:t>
            </a:r>
            <a:r>
              <a:rPr lang="de-DE" dirty="0" err="1"/>
              <a:t>very</a:t>
            </a:r>
            <a:r>
              <a:rPr lang="de-DE" dirty="0"/>
              <a:t> happy </a:t>
            </a:r>
            <a:r>
              <a:rPr lang="de-DE" dirty="0" err="1"/>
              <a:t>people</a:t>
            </a:r>
            <a:r>
              <a:rPr lang="de-DE" dirty="0"/>
              <a:t>, it </a:t>
            </a:r>
            <a:r>
              <a:rPr lang="de-DE" dirty="0" err="1"/>
              <a:t>shows</a:t>
            </a:r>
            <a:r>
              <a:rPr lang="de-DE" dirty="0"/>
              <a:t> a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upwards</a:t>
            </a:r>
            <a:r>
              <a:rPr lang="de-DE" dirty="0"/>
              <a:t> </a:t>
            </a:r>
            <a:r>
              <a:rPr lang="de-DE" dirty="0" err="1"/>
              <a:t>trend</a:t>
            </a:r>
            <a:r>
              <a:rPr lang="de-DE" dirty="0"/>
              <a:t> like </a:t>
            </a:r>
            <a:r>
              <a:rPr lang="de-DE" dirty="0" err="1"/>
              <a:t>with</a:t>
            </a:r>
            <a:r>
              <a:rPr lang="de-DE" dirty="0"/>
              <a:t> the total </a:t>
            </a:r>
            <a:r>
              <a:rPr lang="de-DE" dirty="0" err="1"/>
              <a:t>satisfaction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82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My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aways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:</a:t>
            </a:r>
            <a:br>
              <a:rPr lang="de-DE" dirty="0"/>
            </a:b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relationship</a:t>
            </a:r>
            <a:endParaRPr lang="de-DE" dirty="0"/>
          </a:p>
          <a:p>
            <a:r>
              <a:rPr lang="de-DE" dirty="0"/>
              <a:t>Green </a:t>
            </a:r>
            <a:r>
              <a:rPr lang="de-DE" dirty="0" err="1"/>
              <a:t>infrastructure</a:t>
            </a:r>
            <a:r>
              <a:rPr lang="de-DE" dirty="0"/>
              <a:t> and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satisfaction</a:t>
            </a:r>
            <a:r>
              <a:rPr lang="de-DE" dirty="0"/>
              <a:t> </a:t>
            </a:r>
            <a:r>
              <a:rPr lang="de-DE" dirty="0" err="1"/>
              <a:t>appear</a:t>
            </a:r>
            <a:r>
              <a:rPr lang="de-DE" dirty="0"/>
              <a:t> to </a:t>
            </a:r>
            <a:r>
              <a:rPr lang="de-DE" dirty="0" err="1"/>
              <a:t>move</a:t>
            </a:r>
            <a:r>
              <a:rPr lang="de-DE" dirty="0"/>
              <a:t> in a </a:t>
            </a:r>
            <a:r>
              <a:rPr lang="de-DE" dirty="0" err="1"/>
              <a:t>postive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analyzed</a:t>
            </a:r>
            <a:r>
              <a:rPr lang="de-DE" dirty="0"/>
              <a:t> </a:t>
            </a:r>
            <a:r>
              <a:rPr lang="de-DE" dirty="0" err="1"/>
              <a:t>samples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differences</a:t>
            </a:r>
            <a:endParaRPr lang="de-DE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</a:t>
            </a:r>
            <a:r>
              <a:rPr lang="de-DE" dirty="0" err="1"/>
              <a:t>very</a:t>
            </a:r>
            <a:r>
              <a:rPr lang="de-DE" dirty="0"/>
              <a:t> different to the </a:t>
            </a:r>
            <a:r>
              <a:rPr lang="de-DE" dirty="0" err="1"/>
              <a:t>other</a:t>
            </a:r>
            <a:r>
              <a:rPr lang="de-DE" dirty="0"/>
              <a:t> in </a:t>
            </a:r>
            <a:r>
              <a:rPr lang="de-DE" dirty="0" err="1"/>
              <a:t>greenery</a:t>
            </a:r>
            <a:r>
              <a:rPr lang="de-DE" dirty="0"/>
              <a:t> and </a:t>
            </a:r>
            <a:r>
              <a:rPr lang="de-DE" dirty="0" err="1"/>
              <a:t>satisfaction</a:t>
            </a:r>
            <a:endParaRPr lang="de-DE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alone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of it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de-DE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de-DE" dirty="0"/>
              <a:t>The </a:t>
            </a:r>
            <a:r>
              <a:rPr lang="de-DE" dirty="0" err="1"/>
              <a:t>Limitations</a:t>
            </a:r>
            <a:endParaRPr lang="de-DE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de-DE" dirty="0"/>
              <a:t>The </a:t>
            </a:r>
            <a:r>
              <a:rPr lang="de-DE" dirty="0" err="1"/>
              <a:t>comparision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of 29 </a:t>
            </a:r>
            <a:r>
              <a:rPr lang="de-DE" dirty="0" err="1"/>
              <a:t>capitals</a:t>
            </a:r>
            <a:r>
              <a:rPr lang="de-DE" dirty="0"/>
              <a:t> and it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establish</a:t>
            </a:r>
            <a:r>
              <a:rPr lang="de-DE" dirty="0"/>
              <a:t> </a:t>
            </a:r>
            <a:r>
              <a:rPr lang="de-DE" dirty="0" err="1"/>
              <a:t>causation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represent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European </a:t>
            </a:r>
            <a:r>
              <a:rPr lang="de-DE" dirty="0" err="1"/>
              <a:t>city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918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For the </a:t>
            </a:r>
            <a:r>
              <a:rPr lang="de-DE" dirty="0" err="1"/>
              <a:t>rest</a:t>
            </a:r>
            <a:r>
              <a:rPr lang="de-DE" dirty="0"/>
              <a:t> </a:t>
            </a:r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to Tableau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A4DFB-7095-4783-8B52-36260BAAB33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36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92D51-DDF0-088D-42BA-3F8EFCC64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86ECAF-72E1-5698-7976-D74910D51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C16217-AAC5-135F-DC77-BF07B55D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3F254E-2D35-DDB3-4D9A-CB66FE41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35476D-B081-A7E2-AC1C-FFE54966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0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D6F35-6FBB-5AEA-470C-EBF01797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780342-9871-B0C6-A186-126614F5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0CA858-AA4C-FF2F-5561-1B3256C8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9BAB91-ECAC-8871-6F5A-65362ED6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63F45F-7F43-F5F0-5A49-393E072C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83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549FF-E0DE-8D80-7AE6-6D9769A54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695786-CE98-8447-D0C0-41E3D1F50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6AB462-00E3-CD12-EDB0-9E072E26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17074-B7E4-2C4D-842C-9908E6FE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D04E9E-9E36-60F3-AAC6-6867615E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51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ECCD26-C56E-BD28-D099-64B2DEE3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D031A3-D338-64B9-7D1E-DFD4C0019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5B365A-EB12-0369-2AC3-6CAB2A435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7692BA-A9C5-4CBB-D801-3538EE34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066960-F874-2C84-DB10-488C6221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EA3E37-FF94-C3C6-9BA2-D72C4ECA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67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E1763-56F0-0C0D-DE67-1C2B604B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6F3143-ECFE-BA3F-805E-62A9616B2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ED63E3-FDF1-85B5-F329-F08415AFB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604067-8ED2-1DEC-8D4B-546802E0D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D8BE44-F8C8-203A-FAA6-0DD893A66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C41D88-63BB-59C3-826F-4EA409D7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7C0752-3F0E-977C-C9FE-2680EED1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7116E39-1EFD-2366-4E01-7AC69EEC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01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722C9-F27B-4C48-DA7F-3E9DC8C2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489BE1-2690-CAFF-D39D-70226FBC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FBE849-DFE9-4FCE-2B58-720631BF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306EFB-9B16-30BA-E83E-36E1F8D2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54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69030E-8F2D-ACF8-A2A9-FFE90843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E47CCD-D4D6-BAAC-EFF3-3563EDDC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F8A833-C674-F463-3489-1C928DF9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34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71780-358C-44A6-14C0-E0F25853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92B8D4-54BA-5F67-1E04-4CF499379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13A8D6-9E20-0436-8BC6-02237A909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D9F432-6F9B-B321-9D8C-68D6DE60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652AEC-1C49-BA6D-D62A-8AB3EAEB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85A4C2-BA0A-2F64-84B2-29711103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10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B1DB4-89E3-9AFC-D7C7-14261A84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0FA39FC-DF87-51F7-A650-66647218C43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D7A906-672E-03A6-003C-2705F0642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C28CD3-A57B-6B2E-787A-5BDDAFB2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F4E74B-8942-A6C1-3E0D-6E200908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025391-B277-15ED-B219-80A0F230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09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F6100-A249-8C7C-87C5-AF8B843A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588AF7-15B5-AF1C-5D8A-DA43F462A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0E81F5-0C66-2B01-746C-9F5D6F0D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AD3C86-AC3C-AA06-F171-58E62500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B2AC94-1757-0C21-AF91-65E87F6E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16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B866697-CCE1-89AB-E60F-8436F47B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D44621-50BF-A15A-5D14-A45F43A0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4BA5C-384C-3321-48E8-A49BC7B8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615715-C481-508F-703B-55632B1B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BEEE1A-0519-6317-788A-AAFF714D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61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689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218343-F1F2-48BF-8AC2-05CE397D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0115EC-33EE-B7FF-4D91-6176496C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05C5E4-3934-A173-A3AF-305841C9C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E95F8-8C3C-4AA3-9DAA-7F33F128A8CC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960D64-10BE-73D0-DEA7-EB9F5FC40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4DB9E9-3688-737D-6DB6-320B59C79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5EC96-0E81-4774-AACB-520685C5C9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48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Einzelner Baum auf einem Feld mit Skyline in nebliger Entfernung">
            <a:extLst>
              <a:ext uri="{FF2B5EF4-FFF2-40B4-BE49-F238E27FC236}">
                <a16:creationId xmlns:a16="http://schemas.microsoft.com/office/drawing/2014/main" id="{32980C65-69E6-216A-51C5-504F3370AF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7699" b="7715"/>
          <a:stretch>
            <a:fillRect/>
          </a:stretch>
        </p:blipFill>
        <p:spPr>
          <a:xfrm>
            <a:off x="-15477" y="-44450"/>
            <a:ext cx="12271019" cy="690245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463C467-18F7-2B6B-A3F0-32E1951C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513" y="4302061"/>
            <a:ext cx="5623891" cy="8700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1600" dirty="0">
                <a:solidFill>
                  <a:schemeClr val="bg1"/>
                </a:solidFill>
              </a:rPr>
              <a:t>An </a:t>
            </a:r>
            <a:r>
              <a:rPr lang="de-DE" sz="1600" dirty="0" err="1">
                <a:solidFill>
                  <a:schemeClr val="bg1"/>
                </a:solidFill>
              </a:rPr>
              <a:t>exploration</a:t>
            </a:r>
            <a:r>
              <a:rPr lang="de-DE" sz="1600" dirty="0">
                <a:solidFill>
                  <a:schemeClr val="bg1"/>
                </a:solidFill>
              </a:rPr>
              <a:t> of urban </a:t>
            </a:r>
            <a:r>
              <a:rPr lang="de-DE" sz="1600" dirty="0" err="1">
                <a:solidFill>
                  <a:schemeClr val="bg1"/>
                </a:solidFill>
              </a:rPr>
              <a:t>greenness</a:t>
            </a:r>
            <a:r>
              <a:rPr lang="de-DE" sz="1600" dirty="0">
                <a:solidFill>
                  <a:schemeClr val="bg1"/>
                </a:solidFill>
              </a:rPr>
              <a:t> &amp; </a:t>
            </a:r>
            <a:r>
              <a:rPr lang="de-DE" sz="1600" dirty="0" err="1">
                <a:solidFill>
                  <a:schemeClr val="bg1"/>
                </a:solidFill>
              </a:rPr>
              <a:t>life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satisfaction</a:t>
            </a:r>
            <a:r>
              <a:rPr lang="de-DE" sz="1600" dirty="0">
                <a:solidFill>
                  <a:schemeClr val="bg1"/>
                </a:solidFill>
              </a:rPr>
              <a:t> in European </a:t>
            </a:r>
            <a:r>
              <a:rPr lang="de-DE" sz="1600" dirty="0" err="1">
                <a:solidFill>
                  <a:schemeClr val="bg1"/>
                </a:solidFill>
              </a:rPr>
              <a:t>cities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776F37-C1EF-025E-9B32-06AA270A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07" y="1543330"/>
            <a:ext cx="4242702" cy="1688819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3600" b="1" dirty="0">
                <a:solidFill>
                  <a:srgbClr val="FFFFFF"/>
                </a:solidFill>
              </a:rPr>
              <a:t>Are </a:t>
            </a:r>
            <a:r>
              <a:rPr lang="de-DE" sz="3600" b="1" dirty="0" err="1">
                <a:solidFill>
                  <a:srgbClr val="FFFFFF"/>
                </a:solidFill>
              </a:rPr>
              <a:t>greener</a:t>
            </a:r>
            <a:r>
              <a:rPr lang="de-DE" sz="3600" b="1" dirty="0">
                <a:solidFill>
                  <a:srgbClr val="FFFFFF"/>
                </a:solidFill>
              </a:rPr>
              <a:t> </a:t>
            </a:r>
            <a:r>
              <a:rPr lang="de-DE" sz="3600" b="1" dirty="0" err="1">
                <a:solidFill>
                  <a:srgbClr val="FFFFFF"/>
                </a:solidFill>
              </a:rPr>
              <a:t>cities</a:t>
            </a:r>
            <a:br>
              <a:rPr lang="de-DE" sz="3600" b="1" dirty="0">
                <a:solidFill>
                  <a:srgbClr val="FFFFFF"/>
                </a:solidFill>
              </a:rPr>
            </a:br>
            <a:r>
              <a:rPr lang="de-DE" sz="3600" b="1" dirty="0" err="1">
                <a:solidFill>
                  <a:srgbClr val="FFFFFF"/>
                </a:solidFill>
              </a:rPr>
              <a:t>happier</a:t>
            </a:r>
            <a:r>
              <a:rPr lang="de-DE" sz="36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FD1F4CAB-7E20-446E-337E-A49BCF9DF426}"/>
              </a:ext>
            </a:extLst>
          </p:cNvPr>
          <p:cNvSpPr txBox="1">
            <a:spLocks/>
          </p:cNvSpPr>
          <p:nvPr/>
        </p:nvSpPr>
        <p:spPr>
          <a:xfrm>
            <a:off x="7676360" y="6634567"/>
            <a:ext cx="5623891" cy="223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600" dirty="0">
                <a:solidFill>
                  <a:schemeClr val="bg1"/>
                </a:solidFill>
              </a:rPr>
              <a:t>Robert Rommel • WBS Codin School •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2283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File:Sky clouds.JPG">
            <a:extLst>
              <a:ext uri="{FF2B5EF4-FFF2-40B4-BE49-F238E27FC236}">
                <a16:creationId xmlns:a16="http://schemas.microsoft.com/office/drawing/2014/main" id="{C78E5711-5B2D-5A79-C64E-37F0FCDE96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460499"/>
            <a:ext cx="12192000" cy="9144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7A63876-9CA7-49FE-A752-258CFFA4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65125"/>
            <a:ext cx="10953750" cy="132556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</a:rPr>
              <a:t>Can a </a:t>
            </a:r>
            <a:r>
              <a:rPr lang="de-DE" sz="4000" b="1" dirty="0" err="1">
                <a:solidFill>
                  <a:schemeClr val="bg1"/>
                </a:solidFill>
              </a:rPr>
              <a:t>city</a:t>
            </a:r>
            <a:r>
              <a:rPr lang="de-DE" sz="4000" b="1" dirty="0">
                <a:solidFill>
                  <a:schemeClr val="bg1"/>
                </a:solidFill>
              </a:rPr>
              <a:t> </a:t>
            </a:r>
            <a:r>
              <a:rPr lang="de-DE" sz="4000" b="1" dirty="0" err="1">
                <a:solidFill>
                  <a:schemeClr val="bg1"/>
                </a:solidFill>
              </a:rPr>
              <a:t>affect</a:t>
            </a:r>
            <a:r>
              <a:rPr lang="de-DE" sz="4000" b="1" dirty="0">
                <a:solidFill>
                  <a:schemeClr val="bg1"/>
                </a:solidFill>
              </a:rPr>
              <a:t> </a:t>
            </a:r>
            <a:r>
              <a:rPr lang="de-DE" sz="4000" b="1" dirty="0" err="1">
                <a:solidFill>
                  <a:schemeClr val="bg1"/>
                </a:solidFill>
              </a:rPr>
              <a:t>how</a:t>
            </a:r>
            <a:r>
              <a:rPr lang="de-DE" sz="4000" b="1" dirty="0">
                <a:solidFill>
                  <a:schemeClr val="bg1"/>
                </a:solidFill>
              </a:rPr>
              <a:t> </a:t>
            </a:r>
            <a:r>
              <a:rPr lang="de-DE" sz="4000" b="1" dirty="0" err="1">
                <a:solidFill>
                  <a:schemeClr val="bg1"/>
                </a:solidFill>
              </a:rPr>
              <a:t>satisfied</a:t>
            </a:r>
            <a:r>
              <a:rPr lang="de-DE" sz="4000" b="1" dirty="0">
                <a:solidFill>
                  <a:schemeClr val="bg1"/>
                </a:solidFill>
              </a:rPr>
              <a:t> the </a:t>
            </a:r>
            <a:r>
              <a:rPr lang="de-DE" sz="4000" b="1" dirty="0" err="1">
                <a:solidFill>
                  <a:schemeClr val="bg1"/>
                </a:solidFill>
              </a:rPr>
              <a:t>residents</a:t>
            </a:r>
            <a:r>
              <a:rPr lang="de-DE" sz="4000" b="1" dirty="0">
                <a:solidFill>
                  <a:schemeClr val="bg1"/>
                </a:solidFill>
              </a:rPr>
              <a:t> </a:t>
            </a:r>
            <a:r>
              <a:rPr lang="de-DE" sz="4000" b="1" dirty="0" err="1">
                <a:solidFill>
                  <a:schemeClr val="bg1"/>
                </a:solidFill>
              </a:rPr>
              <a:t>feel</a:t>
            </a:r>
            <a:r>
              <a:rPr lang="de-DE"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52211F-B335-BCAE-93DA-51E323E99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556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Modern city life can feel fast-paced and demanding, surrounded by screens, concrete, and constant activity and noise.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In a dense urban environment, it can sometimes feel as though there is little room to breathe.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44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File:Sky clouds.JPG">
            <a:extLst>
              <a:ext uri="{FF2B5EF4-FFF2-40B4-BE49-F238E27FC236}">
                <a16:creationId xmlns:a16="http://schemas.microsoft.com/office/drawing/2014/main" id="{AC462680-F356-AE5D-BAF6-8000BA0F05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0" y="-1460499"/>
            <a:ext cx="12192000" cy="9144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50D5FEB-C5BA-D3BC-ED19-2EF9BCBE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74" y="3199765"/>
            <a:ext cx="10788650" cy="1325563"/>
          </a:xfrm>
        </p:spPr>
        <p:txBody>
          <a:bodyPr>
            <a:normAutofit/>
          </a:bodyPr>
          <a:lstStyle/>
          <a:p>
            <a:pPr algn="ctr"/>
            <a:r>
              <a:rPr lang="de-DE" sz="4000" b="1" dirty="0">
                <a:solidFill>
                  <a:schemeClr val="bg1"/>
                </a:solidFill>
              </a:rPr>
              <a:t>Green </a:t>
            </a:r>
            <a:r>
              <a:rPr lang="de-DE" sz="4000" b="1" dirty="0" err="1">
                <a:solidFill>
                  <a:schemeClr val="bg1"/>
                </a:solidFill>
              </a:rPr>
              <a:t>infrastructure</a:t>
            </a:r>
            <a:r>
              <a:rPr lang="de-DE" sz="4000" b="1" dirty="0">
                <a:solidFill>
                  <a:schemeClr val="bg1"/>
                </a:solidFill>
              </a:rPr>
              <a:t> as an </a:t>
            </a:r>
            <a:r>
              <a:rPr lang="de-DE" sz="4000" b="1" dirty="0" err="1">
                <a:solidFill>
                  <a:schemeClr val="bg1"/>
                </a:solidFill>
              </a:rPr>
              <a:t>escape</a:t>
            </a:r>
            <a:endParaRPr lang="de-DE" sz="4000" b="1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C6B3CC-304D-E5D0-35A0-D49B2023E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0265"/>
            <a:ext cx="10515600" cy="16033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Parks, gardens and other urban green spaces offer opportunities to walk, relax, connect with others, and step away from the pace of city life.</a:t>
            </a:r>
          </a:p>
        </p:txBody>
      </p:sp>
    </p:spTree>
    <p:extLst>
      <p:ext uri="{BB962C8B-B14F-4D97-AF65-F5344CB8AC3E}">
        <p14:creationId xmlns:p14="http://schemas.microsoft.com/office/powerpoint/2010/main" val="284138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C3D100A-E9E4-FA28-1027-DAEF59D0FB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42" y="0"/>
            <a:ext cx="12168316" cy="6858000"/>
          </a:xfrm>
          <a:prstGeom prst="rect">
            <a:avLst/>
          </a:prstGeom>
        </p:spPr>
      </p:pic>
      <p:sp>
        <p:nvSpPr>
          <p:cNvPr id="7" name="Google Shape;118;p22">
            <a:extLst>
              <a:ext uri="{FF2B5EF4-FFF2-40B4-BE49-F238E27FC236}">
                <a16:creationId xmlns:a16="http://schemas.microsoft.com/office/drawing/2014/main" id="{996EC2DF-76D4-633F-346F-94B1B0F5A859}"/>
              </a:ext>
            </a:extLst>
          </p:cNvPr>
          <p:cNvSpPr txBox="1">
            <a:spLocks/>
          </p:cNvSpPr>
          <p:nvPr/>
        </p:nvSpPr>
        <p:spPr>
          <a:xfrm>
            <a:off x="2694709" y="2531943"/>
            <a:ext cx="6802581" cy="1794114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de-DE" sz="6000" b="1" dirty="0">
                <a:solidFill>
                  <a:schemeClr val="bg1"/>
                </a:solidFill>
              </a:rPr>
              <a:t>Are </a:t>
            </a:r>
            <a:r>
              <a:rPr lang="de-DE" sz="6000" b="1" dirty="0" err="1">
                <a:solidFill>
                  <a:schemeClr val="bg1"/>
                </a:solidFill>
              </a:rPr>
              <a:t>greener</a:t>
            </a:r>
            <a:r>
              <a:rPr lang="de-DE" sz="6000" b="1" dirty="0">
                <a:solidFill>
                  <a:schemeClr val="bg1"/>
                </a:solidFill>
              </a:rPr>
              <a:t> </a:t>
            </a:r>
            <a:r>
              <a:rPr lang="de-DE" sz="6000" b="1" dirty="0" err="1">
                <a:solidFill>
                  <a:schemeClr val="bg1"/>
                </a:solidFill>
              </a:rPr>
              <a:t>cities</a:t>
            </a:r>
            <a:r>
              <a:rPr lang="de-DE" sz="6000" b="1" dirty="0">
                <a:solidFill>
                  <a:schemeClr val="bg1"/>
                </a:solidFill>
              </a:rPr>
              <a:t> </a:t>
            </a:r>
            <a:r>
              <a:rPr lang="de-DE" sz="6000" b="1" dirty="0" err="1">
                <a:solidFill>
                  <a:schemeClr val="bg1"/>
                </a:solidFill>
              </a:rPr>
              <a:t>actually</a:t>
            </a:r>
            <a:r>
              <a:rPr lang="de-DE" sz="6000" b="1" dirty="0">
                <a:solidFill>
                  <a:schemeClr val="bg1"/>
                </a:solidFill>
              </a:rPr>
              <a:t> </a:t>
            </a:r>
            <a:r>
              <a:rPr lang="de-DE" sz="6000" b="1" dirty="0" err="1">
                <a:solidFill>
                  <a:schemeClr val="bg1"/>
                </a:solidFill>
              </a:rPr>
              <a:t>happier</a:t>
            </a:r>
            <a:r>
              <a:rPr lang="de-DE" sz="60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840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FBDAF8F-86E1-3426-8199-EA8C5D0D2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7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028B187-45C4-BA1A-34B6-7A4892EB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8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FAB5193-1F31-4046-DFCB-E08D430023FA}"/>
              </a:ext>
            </a:extLst>
          </p:cNvPr>
          <p:cNvSpPr/>
          <p:nvPr/>
        </p:nvSpPr>
        <p:spPr>
          <a:xfrm>
            <a:off x="0" y="-10176"/>
            <a:ext cx="12192000" cy="6868175"/>
          </a:xfrm>
          <a:prstGeom prst="rect">
            <a:avLst/>
          </a:prstGeom>
          <a:gradFill flip="none" rotWithShape="1">
            <a:gsLst>
              <a:gs pos="8000">
                <a:srgbClr val="5F8EC4">
                  <a:shade val="67500"/>
                  <a:satMod val="115000"/>
                </a:srgbClr>
              </a:gs>
              <a:gs pos="100000">
                <a:srgbClr val="729DC8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AA81EA-66E3-DE48-569A-6A74943827DA}"/>
              </a:ext>
            </a:extLst>
          </p:cNvPr>
          <p:cNvSpPr txBox="1"/>
          <p:nvPr/>
        </p:nvSpPr>
        <p:spPr>
          <a:xfrm>
            <a:off x="652462" y="382681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to </a:t>
            </a:r>
            <a:r>
              <a:rPr lang="de-DE" sz="2800" b="1" dirty="0" err="1">
                <a:solidFill>
                  <a:schemeClr val="bg1"/>
                </a:solidFill>
              </a:rPr>
              <a:t>compare</a:t>
            </a:r>
            <a:r>
              <a:rPr lang="de-DE" sz="2800" b="1" dirty="0">
                <a:solidFill>
                  <a:schemeClr val="bg1"/>
                </a:solidFill>
              </a:rPr>
              <a:t> different European </a:t>
            </a:r>
            <a:r>
              <a:rPr lang="de-DE" sz="2800" b="1" dirty="0" err="1">
                <a:solidFill>
                  <a:schemeClr val="bg1"/>
                </a:solidFill>
              </a:rPr>
              <a:t>cities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9EB244E-0E71-DCB2-1246-574C0161BA1A}"/>
              </a:ext>
            </a:extLst>
          </p:cNvPr>
          <p:cNvSpPr/>
          <p:nvPr/>
        </p:nvSpPr>
        <p:spPr>
          <a:xfrm>
            <a:off x="652462" y="1397930"/>
            <a:ext cx="10887076" cy="41624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ln w="0"/>
                <a:solidFill>
                  <a:schemeClr val="tx1"/>
                </a:solidFill>
              </a:rPr>
              <a:t>The Data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Matching the available datasets left me with 29 capitals that could be compared.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ln w="0"/>
                <a:solidFill>
                  <a:schemeClr val="tx1"/>
                </a:solidFill>
              </a:rPr>
              <a:t>Perspective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“Quality of life is higher in small and medium-sized cities…”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</a:rPr>
              <a:t>— Quality of Life in European Cities survey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EC93BAA-ACE7-94C8-948F-7EA0C53245DF}"/>
              </a:ext>
            </a:extLst>
          </p:cNvPr>
          <p:cNvCxnSpPr>
            <a:cxnSpLocks/>
          </p:cNvCxnSpPr>
          <p:nvPr/>
        </p:nvCxnSpPr>
        <p:spPr>
          <a:xfrm>
            <a:off x="1194687" y="3479145"/>
            <a:ext cx="980262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82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3B42DA5C-735E-4BCD-E3BC-5743E9EEE4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6350"/>
            <a:ext cx="12192000" cy="6864350"/>
          </a:xfrm>
          <a:prstGeom prst="rect">
            <a:avLst/>
          </a:prstGeom>
          <a:gradFill flip="none" rotWithShape="1">
            <a:gsLst>
              <a:gs pos="3000">
                <a:srgbClr val="77A1C7"/>
              </a:gs>
              <a:gs pos="55000">
                <a:srgbClr val="6C98C9">
                  <a:tint val="66000"/>
                  <a:satMod val="160000"/>
                </a:srgbClr>
              </a:gs>
              <a:gs pos="100000">
                <a:srgbClr val="6C98C9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22CFCB-9226-F2F7-232C-A541A2340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4" y="756073"/>
            <a:ext cx="12008252" cy="5339504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AB007C4-F175-924B-AE5C-E072D5BCED18}"/>
              </a:ext>
            </a:extLst>
          </p:cNvPr>
          <p:cNvSpPr/>
          <p:nvPr/>
        </p:nvSpPr>
        <p:spPr>
          <a:xfrm>
            <a:off x="7970520" y="762422"/>
            <a:ext cx="2017058" cy="5339505"/>
          </a:xfrm>
          <a:prstGeom prst="rect">
            <a:avLst/>
          </a:prstGeom>
          <a:solidFill>
            <a:srgbClr val="196B24">
              <a:alpha val="10196"/>
            </a:srgb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E447108-82BE-A476-A3BC-CB881508D84F}"/>
              </a:ext>
            </a:extLst>
          </p:cNvPr>
          <p:cNvSpPr/>
          <p:nvPr/>
        </p:nvSpPr>
        <p:spPr>
          <a:xfrm>
            <a:off x="1569720" y="762422"/>
            <a:ext cx="810410" cy="5333155"/>
          </a:xfrm>
          <a:prstGeom prst="rect">
            <a:avLst/>
          </a:prstGeom>
          <a:solidFill>
            <a:srgbClr val="196B24">
              <a:alpha val="10196"/>
            </a:srgb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6F1B980-1BF0-405C-52C6-A7FB7BB173FF}"/>
              </a:ext>
            </a:extLst>
          </p:cNvPr>
          <p:cNvSpPr/>
          <p:nvPr/>
        </p:nvSpPr>
        <p:spPr>
          <a:xfrm>
            <a:off x="9987578" y="756073"/>
            <a:ext cx="2112548" cy="5333155"/>
          </a:xfrm>
          <a:prstGeom prst="rect">
            <a:avLst/>
          </a:prstGeom>
          <a:solidFill>
            <a:schemeClr val="accent6">
              <a:lumMod val="60000"/>
              <a:lumOff val="40000"/>
              <a:alpha val="10196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034712B-A9C5-9455-9148-5EF05239A5A3}"/>
              </a:ext>
            </a:extLst>
          </p:cNvPr>
          <p:cNvSpPr/>
          <p:nvPr/>
        </p:nvSpPr>
        <p:spPr>
          <a:xfrm>
            <a:off x="2380130" y="768772"/>
            <a:ext cx="1231750" cy="5333155"/>
          </a:xfrm>
          <a:prstGeom prst="rect">
            <a:avLst/>
          </a:prstGeom>
          <a:solidFill>
            <a:schemeClr val="accent6">
              <a:lumMod val="60000"/>
              <a:lumOff val="40000"/>
              <a:alpha val="10196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1B87653-6409-14EF-72F0-A2D438923FD5}"/>
              </a:ext>
            </a:extLst>
          </p:cNvPr>
          <p:cNvSpPr txBox="1"/>
          <p:nvPr/>
        </p:nvSpPr>
        <p:spPr>
          <a:xfrm>
            <a:off x="652462" y="226503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The </a:t>
            </a:r>
            <a:r>
              <a:rPr lang="de-DE" sz="2800" b="1" dirty="0" err="1">
                <a:solidFill>
                  <a:schemeClr val="bg1"/>
                </a:solidFill>
              </a:rPr>
              <a:t>data</a:t>
            </a:r>
            <a:endParaRPr lang="de-DE" sz="2800" b="1" dirty="0">
              <a:solidFill>
                <a:schemeClr val="bg1"/>
              </a:solidFill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93C2EA4-CCE5-0E95-18B4-C0870550FE33}"/>
              </a:ext>
            </a:extLst>
          </p:cNvPr>
          <p:cNvCxnSpPr/>
          <p:nvPr/>
        </p:nvCxnSpPr>
        <p:spPr>
          <a:xfrm>
            <a:off x="5814060" y="914400"/>
            <a:ext cx="128778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7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398394B-B135-CF4C-7057-2F64788243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43000">
                <a:srgbClr val="77A1C7">
                  <a:tint val="66000"/>
                  <a:satMod val="160000"/>
                </a:srgbClr>
              </a:gs>
              <a:gs pos="100000">
                <a:srgbClr val="77A1C7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320276-3243-FA97-4DA2-DC8AAC1FF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258" y="976226"/>
            <a:ext cx="6868484" cy="532521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CFF11A9-4E4D-95BC-3D3D-89EFD0A85E4A}"/>
              </a:ext>
            </a:extLst>
          </p:cNvPr>
          <p:cNvSpPr txBox="1"/>
          <p:nvPr/>
        </p:nvSpPr>
        <p:spPr>
          <a:xfrm>
            <a:off x="652462" y="226503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First </a:t>
            </a:r>
            <a:r>
              <a:rPr lang="de-DE" sz="2800" b="1" dirty="0" err="1">
                <a:solidFill>
                  <a:schemeClr val="bg1"/>
                </a:solidFill>
              </a:rPr>
              <a:t>analysis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43A44B1-635F-030E-7413-040B4DEAE333}"/>
              </a:ext>
            </a:extLst>
          </p:cNvPr>
          <p:cNvSpPr txBox="1">
            <a:spLocks/>
          </p:cNvSpPr>
          <p:nvPr/>
        </p:nvSpPr>
        <p:spPr>
          <a:xfrm>
            <a:off x="266700" y="976226"/>
            <a:ext cx="4625340" cy="53252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Correlation between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Total city satisfaction / very happy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To:</a:t>
            </a:r>
          </a:p>
          <a:p>
            <a:pPr marL="342900" indent="-342900"/>
            <a:r>
              <a:rPr lang="en-US" u="sng" dirty="0">
                <a:solidFill>
                  <a:schemeClr val="bg1"/>
                </a:solidFill>
                <a:latin typeface="Aptos" panose="020B0004020202020204" pitchFamily="34" charset="0"/>
              </a:rPr>
              <a:t>total green infrastructure</a:t>
            </a:r>
          </a:p>
          <a:p>
            <a:pPr marL="342900" indent="-342900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Urban green space</a:t>
            </a:r>
          </a:p>
          <a:p>
            <a:pPr marL="342900" indent="-342900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Urban tree cover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1820A2C3-BA04-610C-BE53-5C302217B9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FAAC5">
                  <a:tint val="66000"/>
                  <a:satMod val="160000"/>
                </a:srgbClr>
              </a:gs>
              <a:gs pos="50000">
                <a:srgbClr val="8FAAC5">
                  <a:tint val="44500"/>
                  <a:satMod val="160000"/>
                </a:srgbClr>
              </a:gs>
              <a:gs pos="100000">
                <a:srgbClr val="8FAAC5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43D45DD-9283-6905-D360-A38192EC5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258" y="976226"/>
            <a:ext cx="6868484" cy="5325218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03FC791-8DAF-6431-0201-F2C2515BBCBB}"/>
              </a:ext>
            </a:extLst>
          </p:cNvPr>
          <p:cNvSpPr txBox="1">
            <a:spLocks/>
          </p:cNvSpPr>
          <p:nvPr/>
        </p:nvSpPr>
        <p:spPr>
          <a:xfrm>
            <a:off x="266700" y="976226"/>
            <a:ext cx="4625340" cy="53252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Very happy and total city satisfaction show a similar trend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95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19A6BCC-B2A4-4B0C-5400-AAD7B72D99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77A1C7">
                  <a:tint val="44500"/>
                  <a:satMod val="160000"/>
                </a:srgbClr>
              </a:gs>
              <a:gs pos="100000">
                <a:srgbClr val="D5E3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827841-D06F-4A56-713A-13D7CD86E583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solidFill>
            <a:srgbClr val="156082">
              <a:alpha val="2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Key </a:t>
            </a:r>
            <a:r>
              <a:rPr lang="de-DE" sz="2800" b="1" dirty="0" err="1">
                <a:solidFill>
                  <a:schemeClr val="bg1"/>
                </a:solidFill>
              </a:rPr>
              <a:t>findings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821E6FC-547C-4504-A9FF-4324E8AD18BF}"/>
              </a:ext>
            </a:extLst>
          </p:cNvPr>
          <p:cNvSpPr/>
          <p:nvPr/>
        </p:nvSpPr>
        <p:spPr>
          <a:xfrm>
            <a:off x="525618" y="1781825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The </a:t>
            </a:r>
            <a:r>
              <a:rPr lang="de-DE" sz="2400" b="1" dirty="0" err="1">
                <a:solidFill>
                  <a:schemeClr val="tx1"/>
                </a:solidFill>
              </a:rPr>
              <a:t>relationship</a:t>
            </a:r>
            <a:endParaRPr lang="de-DE" sz="2400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/>
              <a:t>Green </a:t>
            </a:r>
            <a:r>
              <a:rPr lang="de-DE" dirty="0" err="1"/>
              <a:t>infrastructure</a:t>
            </a:r>
            <a:r>
              <a:rPr lang="de-DE" dirty="0"/>
              <a:t> and </a:t>
            </a: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satisfaction</a:t>
            </a:r>
            <a:r>
              <a:rPr lang="de-DE" dirty="0"/>
              <a:t> </a:t>
            </a:r>
            <a:r>
              <a:rPr lang="de-DE" dirty="0" err="1"/>
              <a:t>appear</a:t>
            </a:r>
            <a:r>
              <a:rPr lang="de-DE" dirty="0"/>
              <a:t> to </a:t>
            </a:r>
            <a:r>
              <a:rPr lang="de-DE" dirty="0" err="1"/>
              <a:t>move</a:t>
            </a:r>
            <a:r>
              <a:rPr lang="de-DE" dirty="0"/>
              <a:t> in a positive </a:t>
            </a:r>
            <a:r>
              <a:rPr lang="de-DE" dirty="0" err="1"/>
              <a:t>direction</a:t>
            </a:r>
            <a:r>
              <a:rPr lang="de-DE" dirty="0"/>
              <a:t> in the </a:t>
            </a:r>
            <a:r>
              <a:rPr lang="de-DE" dirty="0" err="1"/>
              <a:t>analyzed</a:t>
            </a:r>
            <a:r>
              <a:rPr lang="de-DE" dirty="0"/>
              <a:t> sample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FC2FC9B-1A9A-EFF0-21F9-BC17C58B0449}"/>
              </a:ext>
            </a:extLst>
          </p:cNvPr>
          <p:cNvSpPr/>
          <p:nvPr/>
        </p:nvSpPr>
        <p:spPr>
          <a:xfrm>
            <a:off x="4506197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The </a:t>
            </a:r>
            <a:r>
              <a:rPr lang="de-DE" sz="2400" b="1" dirty="0" err="1">
                <a:solidFill>
                  <a:schemeClr val="tx1"/>
                </a:solidFill>
              </a:rPr>
              <a:t>differences</a:t>
            </a:r>
            <a:endParaRPr lang="de-DE" sz="2400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Cities vary in both greenery and satisfaction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=&gt; green infrastructure is only one part of it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BE040DB-165C-E72A-9923-D4B43D19BFCB}"/>
              </a:ext>
            </a:extLst>
          </p:cNvPr>
          <p:cNvSpPr/>
          <p:nvPr/>
        </p:nvSpPr>
        <p:spPr>
          <a:xfrm>
            <a:off x="8486774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The </a:t>
            </a:r>
            <a:r>
              <a:rPr lang="de-DE" sz="2400" b="1" dirty="0" err="1"/>
              <a:t>limitation</a:t>
            </a:r>
            <a:endParaRPr lang="de-DE" sz="2400" b="1" dirty="0"/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/>
              <a:t>This </a:t>
            </a:r>
            <a:r>
              <a:rPr lang="de-DE" dirty="0" err="1"/>
              <a:t>comparison</a:t>
            </a:r>
            <a:r>
              <a:rPr lang="de-DE" dirty="0"/>
              <a:t> of 29 </a:t>
            </a:r>
            <a:r>
              <a:rPr lang="de-DE" dirty="0" err="1"/>
              <a:t>capitals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establish</a:t>
            </a:r>
            <a:r>
              <a:rPr lang="de-DE" dirty="0"/>
              <a:t> </a:t>
            </a:r>
            <a:r>
              <a:rPr lang="de-DE" dirty="0" err="1"/>
              <a:t>causation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represent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European </a:t>
            </a:r>
            <a:r>
              <a:rPr lang="de-DE" dirty="0" err="1"/>
              <a:t>city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21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C871-967C-B336-94AF-BFCFCC78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B71BB2-D703-72BD-9ACC-7DCDAA856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8098F5-1E60-ED9C-9823-0D598F930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A6962A-23FF-01A4-6F3A-71FE826F62B2}"/>
              </a:ext>
            </a:extLst>
          </p:cNvPr>
          <p:cNvSpPr txBox="1"/>
          <p:nvPr/>
        </p:nvSpPr>
        <p:spPr>
          <a:xfrm>
            <a:off x="3764280" y="2754640"/>
            <a:ext cx="4663440" cy="523220"/>
          </a:xfrm>
          <a:prstGeom prst="rect">
            <a:avLst/>
          </a:prstGeom>
          <a:solidFill>
            <a:srgbClr val="DCEAF7">
              <a:alpha val="45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Further </a:t>
            </a:r>
            <a:r>
              <a:rPr lang="de-DE" sz="2800" b="1" dirty="0" err="1">
                <a:solidFill>
                  <a:schemeClr val="bg1"/>
                </a:solidFill>
              </a:rPr>
              <a:t>analysis</a:t>
            </a:r>
            <a:r>
              <a:rPr lang="de-DE" sz="2800" b="1" dirty="0">
                <a:solidFill>
                  <a:schemeClr val="bg1"/>
                </a:solidFill>
              </a:rPr>
              <a:t> in Tableau</a:t>
            </a:r>
          </a:p>
        </p:txBody>
      </p:sp>
    </p:spTree>
    <p:extLst>
      <p:ext uri="{BB962C8B-B14F-4D97-AF65-F5344CB8AC3E}">
        <p14:creationId xmlns:p14="http://schemas.microsoft.com/office/powerpoint/2010/main" val="6505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PresentationFormat>Breitbild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Symbol</vt:lpstr>
      <vt:lpstr>Office</vt:lpstr>
      <vt:lpstr>Are greener cities happier?</vt:lpstr>
      <vt:lpstr>Can a city affect how satisfied the residents feel?</vt:lpstr>
      <vt:lpstr>Green infrastructure as an escape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R</dc:creator>
  <cp:lastModifiedBy>Robert R</cp:lastModifiedBy>
  <cp:revision>4</cp:revision>
  <dcterms:created xsi:type="dcterms:W3CDTF">2026-10-20T08:54:14Z</dcterms:created>
  <dcterms:modified xsi:type="dcterms:W3CDTF">2026-10-21T09:08:12Z</dcterms:modified>
</cp:coreProperties>
</file>
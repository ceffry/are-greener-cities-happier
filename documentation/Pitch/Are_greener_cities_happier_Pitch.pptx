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AB81FF"/>
    <a:srgbClr val="99B9E7"/>
    <a:srgbClr val="B7CDEE"/>
    <a:srgbClr val="C0D0DE"/>
    <a:srgbClr val="729DC8"/>
    <a:srgbClr val="77A1C7"/>
    <a:srgbClr val="5B6932"/>
    <a:srgbClr val="7A7127"/>
    <a:srgbClr val="A6B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9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14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8B859B-9E0D-E66C-D88D-CAB2980B4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C774A0-6D80-F565-3522-A5F2953A0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2C7341-0B60-2697-B4FB-3960AE14F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17055D-7412-45C6-A9D5-B56414A6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17AAFD-8E74-85C6-AC47-F324697C8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891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5FCEF-3851-DE7B-C440-C4618959B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3B5BD1-1C6E-8838-EEA1-1915CCB67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C53911-AA27-2D91-8344-45B77AD3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0E20BA-FF56-119E-289A-635703092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FED644-6B5B-F659-DF5A-2E0C3AF20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117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4C48BD-5779-1802-DA8A-54A4AA94A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6E6614-2801-0042-EE79-83FF9D72D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067D88-0D08-0EA9-BDCC-F9A87DE1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4A11CD-F1A8-F826-8E95-49C6EC83C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FC5779-E6F5-DCAC-2BB7-699033E7E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992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200FDC-D982-7487-C0B6-7CA424B8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143943-BE84-3C0E-245E-6A592C6AB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D121601-46CD-0898-18CB-480F412B1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28C5B7-66A2-52CD-818C-46FC425D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07DD59-4AEB-27B9-9DA3-6114775BA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292805A-224B-E435-1D14-D61537D0D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551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E49CB7-F604-6A5E-FFA2-93B79167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D50336-17EB-6F59-F158-7ACFCF340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DC9D23-8FB8-7B84-9FBA-60C652181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BD8138-CF31-0A19-BE7C-F9F196DBF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453735D-DCFE-0ADA-4DBF-BE5649F4EC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5C1A829-D09F-CC94-8052-1D9C7DFA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3DDAC97-7C36-2B28-EF4D-3676F5BAA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20E1742-0E5B-97F0-16A5-54FB62A0E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0786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41C662-B1D1-D48A-462F-618192FB6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E745148-DDFF-C22F-D7B4-2342F4C0D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05CA3B-54EE-4789-44FD-A44D6D6A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C33354-F990-5830-6B9A-515172D8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42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50DF7A8-DFDB-3156-18B9-3F4B1292B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4A5D83-2FF1-EC61-2C82-23A3F76F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CFBBAD-BA6D-63DD-3413-C3B222F30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966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7F05C1-DA6A-F4E5-F56D-B72282C8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F162F4-8A69-960B-FF7B-B792E0C9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63A2951-D660-CB5F-2FD6-8889194F4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536418-C109-BCA3-AA37-1EBCBA8C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94F6C8-E0F4-6C2E-1ECA-C2B2D6E52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AA6281-488C-4019-193C-F7E20C57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4053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3D0201-7AA2-E0B4-15F5-E0A76E4E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D143BA-6177-8E00-E9B6-B640FDDEFF5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DA68CC-84F9-342A-E83D-57E8BC37F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7B6EB1D-CC22-EC89-6535-BC96F69D0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C2FCA63-4691-7563-2BD2-A955E16B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A336D8-13D4-010F-F93C-07BD35D3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4619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43E0C4-9A50-1C6A-3D72-F2381B115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A15867-25C7-1D78-7789-58D218565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18B3A3-46F8-2EDB-ED70-F4040A40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925AF8-A3D0-676B-2E00-2991B11DC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D231D47-3764-6DE2-9DEB-A4E8EECDE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96490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2BC393-C7B5-22D9-96A3-5224375F2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BC0ED87-420D-74A7-5557-122627D41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25537A-35D7-2E5D-24F0-B22D7B8AC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1CFC7-0744-1521-F1AC-AFA1511B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21D579-13A6-F586-A3E9-3D1AA3F3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3961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672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6322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D8561EA-7AB2-9081-8337-8273B004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F94D1F-DF5A-CC52-2EB4-EB1215449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465068-6A0D-21B1-8EA7-5DA0D81AC9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10/13/2026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9ABDC81-9380-9586-378A-9DA9EADFF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F6A1E6-7977-F16B-2FEA-97092A30F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54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c.europa.eu/regional_policy/sources/reports/qol2023/2023_quality_life_european_cities_en.pdf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nd.copernicus.eu/en/products/urban-atlas" TargetMode="External"/><Relationship Id="rId2" Type="http://schemas.openxmlformats.org/officeDocument/2006/relationships/hyperlink" Target="https://ec.europa.eu/regional_policy/sources/reports/qol2023/2023_quality_life_european_cities_en.pdf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ec.europa.eu/eurostat/web/cities/database" TargetMode="External"/><Relationship Id="rId4" Type="http://schemas.openxmlformats.org/officeDocument/2006/relationships/hyperlink" Target="https://www.eea.europa.eu/en/analysis/maps-and-charts/index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" descr="Einzelner Baum auf einem Feld mit Skyline in nebliger Entfernung">
            <a:extLst>
              <a:ext uri="{FF2B5EF4-FFF2-40B4-BE49-F238E27FC236}">
                <a16:creationId xmlns:a16="http://schemas.microsoft.com/office/drawing/2014/main" id="{32980C65-69E6-216A-51C5-504F3370A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99" b="7715"/>
          <a:stretch>
            <a:fillRect/>
          </a:stretch>
        </p:blipFill>
        <p:spPr>
          <a:xfrm>
            <a:off x="-15476" y="0"/>
            <a:ext cx="12191979" cy="6857990"/>
          </a:xfrm>
          <a:prstGeom prst="rect">
            <a:avLst/>
          </a:prstGeom>
        </p:spPr>
      </p:pic>
      <p:sp>
        <p:nvSpPr>
          <p:cNvPr id="3" name="Untertitel 2">
            <a:extLst>
              <a:ext uri="{FF2B5EF4-FFF2-40B4-BE49-F238E27FC236}">
                <a16:creationId xmlns:a16="http://schemas.microsoft.com/office/drawing/2014/main" id="{5463C467-18F7-2B6B-A3F0-32E1951C7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0513" y="4302061"/>
            <a:ext cx="5623891" cy="87000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de-DE" sz="1600" dirty="0"/>
              <a:t>An </a:t>
            </a:r>
            <a:r>
              <a:rPr lang="de-DE" sz="1600" dirty="0" err="1"/>
              <a:t>exploration</a:t>
            </a:r>
            <a:r>
              <a:rPr lang="de-DE" sz="1600" dirty="0"/>
              <a:t> of urban </a:t>
            </a:r>
            <a:r>
              <a:rPr lang="de-DE" sz="1600" dirty="0" err="1"/>
              <a:t>greenness</a:t>
            </a:r>
            <a:r>
              <a:rPr lang="de-DE" sz="1600" dirty="0"/>
              <a:t> &amp; </a:t>
            </a:r>
            <a:r>
              <a:rPr lang="de-DE" sz="1600" dirty="0" err="1"/>
              <a:t>life</a:t>
            </a:r>
            <a:r>
              <a:rPr lang="de-DE" sz="1600" dirty="0"/>
              <a:t> </a:t>
            </a:r>
            <a:r>
              <a:rPr lang="de-DE" sz="1600" dirty="0" err="1"/>
              <a:t>satisfaction</a:t>
            </a:r>
            <a:r>
              <a:rPr lang="de-DE" sz="1600" dirty="0"/>
              <a:t> in European </a:t>
            </a:r>
            <a:r>
              <a:rPr lang="de-DE" sz="1600" dirty="0" err="1"/>
              <a:t>cities</a:t>
            </a:r>
            <a:endParaRPr lang="de-DE" sz="1600" dirty="0">
              <a:solidFill>
                <a:srgbClr val="FFFFFF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4776F37-C1EF-025E-9B32-06AA270A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107" y="1543330"/>
            <a:ext cx="4242702" cy="1688819"/>
          </a:xfrm>
        </p:spPr>
        <p:txBody>
          <a:bodyPr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de-DE" sz="3600" b="1" dirty="0">
                <a:solidFill>
                  <a:srgbClr val="FFFFFF"/>
                </a:solidFill>
              </a:rPr>
              <a:t>Are </a:t>
            </a:r>
            <a:r>
              <a:rPr lang="de-DE" sz="3600" b="1" dirty="0" err="1">
                <a:solidFill>
                  <a:srgbClr val="FFFFFF"/>
                </a:solidFill>
              </a:rPr>
              <a:t>greener</a:t>
            </a:r>
            <a:r>
              <a:rPr lang="de-DE" sz="3600" b="1" dirty="0">
                <a:solidFill>
                  <a:srgbClr val="FFFFFF"/>
                </a:solidFill>
              </a:rPr>
              <a:t> </a:t>
            </a:r>
            <a:r>
              <a:rPr lang="de-DE" sz="3600" b="1" dirty="0" err="1">
                <a:solidFill>
                  <a:srgbClr val="FFFFFF"/>
                </a:solidFill>
              </a:rPr>
              <a:t>cities</a:t>
            </a:r>
            <a:br>
              <a:rPr lang="de-DE" sz="3600" b="1" dirty="0">
                <a:solidFill>
                  <a:srgbClr val="FFFFFF"/>
                </a:solidFill>
              </a:rPr>
            </a:br>
            <a:r>
              <a:rPr lang="de-DE" sz="3600" b="1" dirty="0" err="1">
                <a:solidFill>
                  <a:srgbClr val="FFFFFF"/>
                </a:solidFill>
              </a:rPr>
              <a:t>happier</a:t>
            </a:r>
            <a:r>
              <a:rPr lang="de-DE" sz="3600" b="1" dirty="0">
                <a:solidFill>
                  <a:srgbClr val="FFFFFF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22839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B1A766E9-689B-F63B-8E5E-794F0C7D84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0176"/>
            <a:ext cx="12192000" cy="6868175"/>
          </a:xfrm>
          <a:prstGeom prst="rect">
            <a:avLst/>
          </a:prstGeom>
          <a:gradFill flip="none" rotWithShape="1">
            <a:gsLst>
              <a:gs pos="0">
                <a:srgbClr val="5F8EC4">
                  <a:shade val="67500"/>
                  <a:satMod val="115000"/>
                </a:srgbClr>
              </a:gs>
              <a:gs pos="33000">
                <a:srgbClr val="729DC8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50A17D5D-D218-BC63-A60D-978086051A0F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Can a </a:t>
            </a:r>
            <a:r>
              <a:rPr lang="de-DE" sz="2800" b="1" dirty="0" err="1">
                <a:solidFill>
                  <a:schemeClr val="bg1"/>
                </a:solidFill>
              </a:rPr>
              <a:t>city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affect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how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satisfied</a:t>
            </a:r>
            <a:r>
              <a:rPr lang="de-DE" sz="2800" b="1" dirty="0">
                <a:solidFill>
                  <a:schemeClr val="bg1"/>
                </a:solidFill>
              </a:rPr>
              <a:t> the </a:t>
            </a:r>
            <a:r>
              <a:rPr lang="de-DE" sz="2800" b="1" dirty="0" err="1">
                <a:solidFill>
                  <a:schemeClr val="bg1"/>
                </a:solidFill>
              </a:rPr>
              <a:t>residents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feel</a:t>
            </a:r>
            <a:r>
              <a:rPr lang="de-DE"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4667C41D-1BEB-9FA6-312B-9B3BC5FCEB6F}"/>
              </a:ext>
            </a:extLst>
          </p:cNvPr>
          <p:cNvSpPr/>
          <p:nvPr/>
        </p:nvSpPr>
        <p:spPr>
          <a:xfrm>
            <a:off x="652462" y="1666871"/>
            <a:ext cx="10887076" cy="4210054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Modern city life can feel fast-paced and stressful, dominated by screens and concrete. </a:t>
            </a:r>
          </a:p>
          <a:p>
            <a:pPr algn="ctr"/>
            <a:r>
              <a:rPr lang="en-US" sz="2000" dirty="0">
                <a:ln w="0"/>
                <a:solidFill>
                  <a:schemeClr val="tx1"/>
                </a:solidFill>
              </a:rPr>
              <a:t>However, parks and green spaces offer opportunities to walk, relax and </a:t>
            </a:r>
            <a:r>
              <a:rPr lang="en-US" sz="2000" dirty="0" err="1">
                <a:ln w="0"/>
                <a:solidFill>
                  <a:schemeClr val="tx1"/>
                </a:solidFill>
              </a:rPr>
              <a:t>socialise</a:t>
            </a:r>
            <a:r>
              <a:rPr lang="en-US" sz="2000" dirty="0">
                <a:ln w="0"/>
                <a:solidFill>
                  <a:schemeClr val="tx1"/>
                </a:solidFill>
              </a:rPr>
              <a:t>, which can potentially improve residents’ well-being and satisfaction</a:t>
            </a: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en-US" sz="2000" dirty="0">
              <a:ln w="0"/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pic>
        <p:nvPicPr>
          <p:cNvPr id="27" name="Grafik 26" descr="Stadt mit einfarbiger Füllung">
            <a:extLst>
              <a:ext uri="{FF2B5EF4-FFF2-40B4-BE49-F238E27FC236}">
                <a16:creationId xmlns:a16="http://schemas.microsoft.com/office/drawing/2014/main" id="{D731F9D0-4106-D7BA-CB7A-92083B6EE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24956" y="3580105"/>
            <a:ext cx="1276997" cy="1276997"/>
          </a:xfrm>
          <a:prstGeom prst="rect">
            <a:avLst/>
          </a:prstGeom>
        </p:spPr>
      </p:pic>
      <p:pic>
        <p:nvPicPr>
          <p:cNvPr id="29" name="Grafik 28" descr="Waldszenerie mit einfarbiger Füllung">
            <a:extLst>
              <a:ext uri="{FF2B5EF4-FFF2-40B4-BE49-F238E27FC236}">
                <a16:creationId xmlns:a16="http://schemas.microsoft.com/office/drawing/2014/main" id="{87D291AA-D706-0996-BFC5-ACABE1ED0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5372" y="3580106"/>
            <a:ext cx="1276996" cy="1276996"/>
          </a:xfrm>
          <a:prstGeom prst="rect">
            <a:avLst/>
          </a:prstGeom>
        </p:spPr>
      </p:pic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73BABDA8-26EB-BB3C-88C7-79E3571903F4}"/>
              </a:ext>
            </a:extLst>
          </p:cNvPr>
          <p:cNvCxnSpPr>
            <a:cxnSpLocks/>
          </p:cNvCxnSpPr>
          <p:nvPr/>
        </p:nvCxnSpPr>
        <p:spPr>
          <a:xfrm>
            <a:off x="5029200" y="4218603"/>
            <a:ext cx="2257425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736E2416-35DE-4919-F701-56A467A54644}"/>
              </a:ext>
            </a:extLst>
          </p:cNvPr>
          <p:cNvSpPr txBox="1"/>
          <p:nvPr/>
        </p:nvSpPr>
        <p:spPr>
          <a:xfrm>
            <a:off x="652463" y="4857102"/>
            <a:ext cx="10887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000" dirty="0">
                <a:ln w="0"/>
              </a:rPr>
              <a:t>do </a:t>
            </a:r>
            <a:r>
              <a:rPr lang="de-DE" sz="2000" dirty="0" err="1">
                <a:ln w="0"/>
              </a:rPr>
              <a:t>greener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cities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have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more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satisfied</a:t>
            </a:r>
            <a:r>
              <a:rPr lang="de-DE" sz="2000" dirty="0">
                <a:ln w="0"/>
              </a:rPr>
              <a:t> </a:t>
            </a:r>
            <a:r>
              <a:rPr lang="de-DE" sz="2000" dirty="0" err="1">
                <a:ln w="0"/>
              </a:rPr>
              <a:t>residents</a:t>
            </a:r>
            <a:r>
              <a:rPr lang="de-DE" sz="2000" dirty="0">
                <a:ln w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78836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B6DA9F5-05A3-4706-BDC7-ECD1D51E62A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6350"/>
            <a:ext cx="12192000" cy="6864350"/>
          </a:xfrm>
          <a:prstGeom prst="rect">
            <a:avLst/>
          </a:prstGeom>
          <a:gradFill flip="none" rotWithShape="1">
            <a:gsLst>
              <a:gs pos="3000">
                <a:srgbClr val="77A1C7"/>
              </a:gs>
              <a:gs pos="55000">
                <a:srgbClr val="6C98C9">
                  <a:tint val="66000"/>
                  <a:satMod val="160000"/>
                </a:srgbClr>
              </a:gs>
              <a:gs pos="100000">
                <a:srgbClr val="6C98C9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D9CBAE46-3DB4-7C67-9741-CC799AD6928E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to </a:t>
            </a:r>
            <a:r>
              <a:rPr lang="de-DE" sz="2800" b="1" dirty="0" err="1">
                <a:solidFill>
                  <a:schemeClr val="bg1"/>
                </a:solidFill>
              </a:rPr>
              <a:t>define</a:t>
            </a:r>
            <a:r>
              <a:rPr lang="de-DE" sz="2800" b="1" dirty="0">
                <a:solidFill>
                  <a:schemeClr val="bg1"/>
                </a:solidFill>
              </a:rPr>
              <a:t> and </a:t>
            </a:r>
            <a:r>
              <a:rPr lang="de-DE" sz="2800" b="1" dirty="0" err="1">
                <a:solidFill>
                  <a:schemeClr val="bg1"/>
                </a:solidFill>
              </a:rPr>
              <a:t>measure</a:t>
            </a:r>
            <a:r>
              <a:rPr lang="de-DE" sz="2800" b="1" dirty="0">
                <a:solidFill>
                  <a:schemeClr val="bg1"/>
                </a:solidFill>
              </a:rPr>
              <a:t> „</a:t>
            </a:r>
            <a:r>
              <a:rPr lang="de-DE" sz="2800" b="1" dirty="0" err="1">
                <a:solidFill>
                  <a:schemeClr val="bg1"/>
                </a:solidFill>
              </a:rPr>
              <a:t>green</a:t>
            </a:r>
            <a:r>
              <a:rPr lang="de-DE" sz="2800" b="1" dirty="0">
                <a:solidFill>
                  <a:schemeClr val="bg1"/>
                </a:solidFill>
              </a:rPr>
              <a:t>“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FD704F9-F7E5-50D2-1B9A-598B28D24F67}"/>
              </a:ext>
            </a:extLst>
          </p:cNvPr>
          <p:cNvSpPr/>
          <p:nvPr/>
        </p:nvSpPr>
        <p:spPr>
          <a:xfrm>
            <a:off x="361950" y="1685925"/>
            <a:ext cx="3238500" cy="39243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92D050"/>
                </a:solidFill>
              </a:rPr>
              <a:t>Green Space</a:t>
            </a:r>
          </a:p>
          <a:p>
            <a:pPr algn="ctr"/>
            <a:endParaRPr lang="de-DE" sz="2000" dirty="0"/>
          </a:p>
          <a:p>
            <a:pPr algn="ctr"/>
            <a:r>
              <a:rPr lang="de-DE" sz="2000" dirty="0"/>
              <a:t>Share of </a:t>
            </a:r>
            <a:r>
              <a:rPr lang="de-DE" sz="2000" dirty="0" err="1"/>
              <a:t>city</a:t>
            </a:r>
            <a:r>
              <a:rPr lang="de-DE" sz="2000" dirty="0"/>
              <a:t> area </a:t>
            </a:r>
            <a:r>
              <a:rPr lang="de-DE" sz="2000" dirty="0" err="1"/>
              <a:t>classified</a:t>
            </a:r>
            <a:r>
              <a:rPr lang="de-DE" sz="2000" dirty="0"/>
              <a:t> as </a:t>
            </a:r>
            <a:r>
              <a:rPr lang="de-DE" sz="2000" dirty="0" err="1"/>
              <a:t>green</a:t>
            </a:r>
            <a:r>
              <a:rPr lang="de-DE" sz="2000" dirty="0"/>
              <a:t> urban </a:t>
            </a:r>
            <a:r>
              <a:rPr lang="de-DE" sz="2000" dirty="0" err="1"/>
              <a:t>space</a:t>
            </a:r>
            <a:endParaRPr lang="de-DE" sz="2000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05C407E9-6FD2-5D6B-3662-6514D2C37812}"/>
              </a:ext>
            </a:extLst>
          </p:cNvPr>
          <p:cNvSpPr/>
          <p:nvPr/>
        </p:nvSpPr>
        <p:spPr>
          <a:xfrm>
            <a:off x="4476750" y="1685925"/>
            <a:ext cx="3238500" cy="39243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00B050"/>
                </a:solidFill>
              </a:rPr>
              <a:t>Access</a:t>
            </a:r>
          </a:p>
          <a:p>
            <a:pPr algn="ctr"/>
            <a:endParaRPr lang="de-DE" sz="2000" dirty="0"/>
          </a:p>
          <a:p>
            <a:pPr algn="ctr"/>
            <a:r>
              <a:rPr lang="de-DE" sz="2000" dirty="0"/>
              <a:t>How </a:t>
            </a:r>
            <a:r>
              <a:rPr lang="de-DE" sz="2000" dirty="0" err="1"/>
              <a:t>much</a:t>
            </a:r>
            <a:r>
              <a:rPr lang="de-DE" sz="2000" dirty="0"/>
              <a:t> </a:t>
            </a:r>
            <a:r>
              <a:rPr lang="de-DE" sz="2000" dirty="0" err="1"/>
              <a:t>green</a:t>
            </a:r>
            <a:r>
              <a:rPr lang="de-DE" sz="2000" dirty="0"/>
              <a:t> area </a:t>
            </a:r>
            <a:r>
              <a:rPr lang="de-DE" sz="2000" dirty="0" err="1"/>
              <a:t>can</a:t>
            </a:r>
            <a:r>
              <a:rPr lang="de-DE" sz="2000" dirty="0"/>
              <a:t> </a:t>
            </a:r>
            <a:r>
              <a:rPr lang="de-DE" sz="2000" dirty="0" err="1"/>
              <a:t>residents</a:t>
            </a:r>
            <a:r>
              <a:rPr lang="de-DE" sz="2000" dirty="0"/>
              <a:t> </a:t>
            </a:r>
            <a:r>
              <a:rPr lang="de-DE" sz="2000" dirty="0" err="1"/>
              <a:t>reach</a:t>
            </a:r>
            <a:r>
              <a:rPr lang="de-DE" sz="2000" dirty="0"/>
              <a:t> on </a:t>
            </a:r>
            <a:r>
              <a:rPr lang="de-DE" sz="2000" dirty="0" err="1"/>
              <a:t>foot</a:t>
            </a:r>
            <a:endParaRPr lang="de-DE" sz="2000" dirty="0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F4AF04E1-AD7E-5254-DD5B-306EFB98020B}"/>
              </a:ext>
            </a:extLst>
          </p:cNvPr>
          <p:cNvSpPr/>
          <p:nvPr/>
        </p:nvSpPr>
        <p:spPr>
          <a:xfrm>
            <a:off x="8591550" y="1685925"/>
            <a:ext cx="3238500" cy="39243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accent3"/>
                </a:solidFill>
              </a:rPr>
              <a:t>Trees</a:t>
            </a:r>
          </a:p>
          <a:p>
            <a:pPr algn="ctr"/>
            <a:endParaRPr lang="de-DE" sz="2000" dirty="0"/>
          </a:p>
          <a:p>
            <a:pPr algn="ctr"/>
            <a:r>
              <a:rPr lang="de-DE" sz="2000" dirty="0"/>
              <a:t>Urban </a:t>
            </a:r>
            <a:r>
              <a:rPr lang="de-DE" sz="2000" dirty="0" err="1"/>
              <a:t>tree</a:t>
            </a:r>
            <a:r>
              <a:rPr lang="de-DE" sz="2000" dirty="0"/>
              <a:t> </a:t>
            </a:r>
            <a:r>
              <a:rPr lang="de-DE" sz="2000" dirty="0" err="1"/>
              <a:t>cover</a:t>
            </a:r>
            <a:r>
              <a:rPr lang="de-DE" sz="2000" dirty="0"/>
              <a:t> </a:t>
            </a:r>
            <a:r>
              <a:rPr lang="de-DE" sz="2000" dirty="0" err="1"/>
              <a:t>where</a:t>
            </a:r>
            <a:r>
              <a:rPr lang="de-DE" sz="2000" dirty="0"/>
              <a:t> </a:t>
            </a:r>
            <a:r>
              <a:rPr lang="de-DE" sz="2000" dirty="0" err="1"/>
              <a:t>available</a:t>
            </a:r>
            <a:endParaRPr lang="de-DE" sz="20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39A37F4-2705-A9F9-2185-18194AB44A87}"/>
              </a:ext>
            </a:extLst>
          </p:cNvPr>
          <p:cNvSpPr txBox="1"/>
          <p:nvPr/>
        </p:nvSpPr>
        <p:spPr>
          <a:xfrm>
            <a:off x="361950" y="6020455"/>
            <a:ext cx="11468100" cy="707886"/>
          </a:xfrm>
          <a:prstGeom prst="rect">
            <a:avLst/>
          </a:prstGeom>
          <a:gradFill flip="none" rotWithShape="1">
            <a:gsLst>
              <a:gs pos="0">
                <a:srgbClr val="99B9E7">
                  <a:alpha val="61000"/>
                </a:srgbClr>
              </a:gs>
              <a:gs pos="100000">
                <a:srgbClr val="99B9E7">
                  <a:alpha val="1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Primary </a:t>
            </a:r>
            <a:r>
              <a:rPr lang="de-DE" sz="2000" b="1" dirty="0" err="1">
                <a:solidFill>
                  <a:schemeClr val="bg1"/>
                </a:solidFill>
              </a:rPr>
              <a:t>measure</a:t>
            </a:r>
            <a:r>
              <a:rPr lang="de-DE" sz="2000" b="1" dirty="0">
                <a:solidFill>
                  <a:schemeClr val="bg1"/>
                </a:solidFill>
              </a:rPr>
              <a:t>:</a:t>
            </a:r>
            <a:r>
              <a:rPr lang="de-DE" sz="2000" dirty="0">
                <a:solidFill>
                  <a:schemeClr val="bg1"/>
                </a:solidFill>
              </a:rPr>
              <a:t> </a:t>
            </a:r>
            <a:r>
              <a:rPr lang="de-DE" sz="2000" dirty="0" err="1">
                <a:solidFill>
                  <a:schemeClr val="bg1"/>
                </a:solidFill>
              </a:rPr>
              <a:t>share</a:t>
            </a:r>
            <a:r>
              <a:rPr lang="de-DE" sz="2000" dirty="0">
                <a:solidFill>
                  <a:schemeClr val="bg1"/>
                </a:solidFill>
              </a:rPr>
              <a:t> of </a:t>
            </a:r>
            <a:r>
              <a:rPr lang="de-DE" sz="2000" dirty="0" err="1">
                <a:solidFill>
                  <a:schemeClr val="bg1"/>
                </a:solidFill>
              </a:rPr>
              <a:t>city</a:t>
            </a:r>
            <a:r>
              <a:rPr lang="de-DE" sz="2000" dirty="0">
                <a:solidFill>
                  <a:schemeClr val="bg1"/>
                </a:solidFill>
              </a:rPr>
              <a:t> area </a:t>
            </a:r>
            <a:r>
              <a:rPr lang="de-DE" sz="2000" dirty="0" err="1">
                <a:solidFill>
                  <a:schemeClr val="bg1"/>
                </a:solidFill>
              </a:rPr>
              <a:t>covered</a:t>
            </a:r>
            <a:r>
              <a:rPr lang="de-DE" sz="2000" dirty="0">
                <a:solidFill>
                  <a:schemeClr val="bg1"/>
                </a:solidFill>
              </a:rPr>
              <a:t> by </a:t>
            </a:r>
            <a:r>
              <a:rPr lang="de-DE" sz="2000" dirty="0" err="1">
                <a:solidFill>
                  <a:schemeClr val="bg1"/>
                </a:solidFill>
              </a:rPr>
              <a:t>green</a:t>
            </a:r>
            <a:r>
              <a:rPr lang="de-DE" sz="2000" dirty="0">
                <a:solidFill>
                  <a:schemeClr val="bg1"/>
                </a:solidFill>
              </a:rPr>
              <a:t> urban </a:t>
            </a:r>
            <a:r>
              <a:rPr lang="de-DE" sz="2000" dirty="0" err="1">
                <a:solidFill>
                  <a:schemeClr val="bg1"/>
                </a:solidFill>
              </a:rPr>
              <a:t>space</a:t>
            </a:r>
            <a:br>
              <a:rPr lang="de-DE" sz="2000" dirty="0">
                <a:solidFill>
                  <a:schemeClr val="bg1"/>
                </a:solidFill>
              </a:rPr>
            </a:br>
            <a:r>
              <a:rPr lang="de-DE" sz="2000" i="1" dirty="0">
                <a:solidFill>
                  <a:schemeClr val="bg1"/>
                </a:solidFill>
              </a:rPr>
              <a:t>Access and </a:t>
            </a:r>
            <a:r>
              <a:rPr lang="de-DE" sz="2000" i="1" dirty="0" err="1">
                <a:solidFill>
                  <a:schemeClr val="bg1"/>
                </a:solidFill>
              </a:rPr>
              <a:t>tree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cover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provide</a:t>
            </a:r>
            <a:r>
              <a:rPr lang="de-DE" sz="2000" i="1" dirty="0">
                <a:solidFill>
                  <a:schemeClr val="bg1"/>
                </a:solidFill>
              </a:rPr>
              <a:t> additional </a:t>
            </a:r>
            <a:r>
              <a:rPr lang="de-DE" sz="2000" i="1" dirty="0" err="1">
                <a:solidFill>
                  <a:schemeClr val="bg1"/>
                </a:solidFill>
              </a:rPr>
              <a:t>context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where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data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are</a:t>
            </a:r>
            <a:r>
              <a:rPr lang="de-DE" sz="2000" i="1" dirty="0">
                <a:solidFill>
                  <a:schemeClr val="bg1"/>
                </a:solidFill>
              </a:rPr>
              <a:t> </a:t>
            </a:r>
            <a:r>
              <a:rPr lang="de-DE" sz="2000" i="1" dirty="0" err="1">
                <a:solidFill>
                  <a:schemeClr val="bg1"/>
                </a:solidFill>
              </a:rPr>
              <a:t>available</a:t>
            </a:r>
            <a:r>
              <a:rPr lang="de-DE" sz="2000" i="1" dirty="0">
                <a:solidFill>
                  <a:schemeClr val="bg1"/>
                </a:solidFill>
              </a:rPr>
              <a:t>.</a:t>
            </a:r>
            <a:endParaRPr lang="de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697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0E66D316-2FF2-E4FD-A748-664A442300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902450"/>
          </a:xfrm>
          <a:prstGeom prst="rect">
            <a:avLst/>
          </a:prstGeom>
          <a:gradFill flip="none" rotWithShape="1">
            <a:gsLst>
              <a:gs pos="43000">
                <a:srgbClr val="77A1C7">
                  <a:tint val="66000"/>
                  <a:satMod val="160000"/>
                </a:srgbClr>
              </a:gs>
              <a:gs pos="100000">
                <a:srgbClr val="77A1C7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004B3F0-118D-6037-89E6-88B8997F7B40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to </a:t>
            </a:r>
            <a:r>
              <a:rPr lang="de-DE" sz="2800" b="1" dirty="0" err="1">
                <a:solidFill>
                  <a:schemeClr val="bg1"/>
                </a:solidFill>
              </a:rPr>
              <a:t>measure</a:t>
            </a:r>
            <a:r>
              <a:rPr lang="de-DE" sz="2800" b="1" dirty="0">
                <a:solidFill>
                  <a:schemeClr val="bg1"/>
                </a:solidFill>
              </a:rPr>
              <a:t> „</a:t>
            </a:r>
            <a:r>
              <a:rPr lang="de-DE" sz="2800" b="1" dirty="0" err="1">
                <a:solidFill>
                  <a:schemeClr val="bg1"/>
                </a:solidFill>
              </a:rPr>
              <a:t>happiness</a:t>
            </a:r>
            <a:r>
              <a:rPr lang="de-DE" sz="2800" b="1" dirty="0">
                <a:solidFill>
                  <a:schemeClr val="bg1"/>
                </a:solidFill>
              </a:rPr>
              <a:t>“?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C60303F-7440-8DBF-0194-0AA983DC3F15}"/>
              </a:ext>
            </a:extLst>
          </p:cNvPr>
          <p:cNvSpPr/>
          <p:nvPr/>
        </p:nvSpPr>
        <p:spPr>
          <a:xfrm>
            <a:off x="5564341" y="1666873"/>
            <a:ext cx="6067425" cy="208597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</a:rPr>
              <a:t>Residents‘ </a:t>
            </a:r>
            <a:r>
              <a:rPr lang="de-DE" sz="2000" b="1" dirty="0" err="1">
                <a:solidFill>
                  <a:schemeClr val="tx1"/>
                </a:solidFill>
              </a:rPr>
              <a:t>reported</a:t>
            </a:r>
            <a:r>
              <a:rPr lang="de-DE" sz="2000" b="1" dirty="0">
                <a:solidFill>
                  <a:schemeClr val="tx1"/>
                </a:solidFill>
              </a:rPr>
              <a:t> </a:t>
            </a:r>
            <a:r>
              <a:rPr lang="de-DE" sz="2000" b="1" dirty="0" err="1">
                <a:solidFill>
                  <a:schemeClr val="tx1"/>
                </a:solidFill>
              </a:rPr>
              <a:t>life</a:t>
            </a:r>
            <a:r>
              <a:rPr lang="de-DE" sz="2000" b="1" dirty="0">
                <a:solidFill>
                  <a:schemeClr val="tx1"/>
                </a:solidFill>
              </a:rPr>
              <a:t> </a:t>
            </a:r>
            <a:r>
              <a:rPr lang="de-DE" sz="2000" b="1" dirty="0" err="1">
                <a:solidFill>
                  <a:schemeClr val="tx1"/>
                </a:solidFill>
              </a:rPr>
              <a:t>satisfaction</a:t>
            </a:r>
            <a:endParaRPr lang="de-DE" sz="2000" b="1" dirty="0">
              <a:solidFill>
                <a:schemeClr val="tx1"/>
              </a:solidFill>
            </a:endParaRPr>
          </a:p>
          <a:p>
            <a:pPr algn="ctr"/>
            <a:endParaRPr lang="de-DE" sz="2000" b="1" dirty="0">
              <a:solidFill>
                <a:schemeClr val="tx1"/>
              </a:solidFill>
            </a:endParaRPr>
          </a:p>
          <a:p>
            <a:pPr algn="ctr"/>
            <a:r>
              <a:rPr lang="de-DE" sz="2000" b="1" dirty="0" err="1">
                <a:solidFill>
                  <a:schemeClr val="tx1"/>
                </a:solidFill>
              </a:rPr>
              <a:t>Using</a:t>
            </a:r>
            <a:r>
              <a:rPr lang="de-DE" sz="2000" b="1" dirty="0">
                <a:solidFill>
                  <a:schemeClr val="tx1"/>
                </a:solidFill>
              </a:rPr>
              <a:t> for </a:t>
            </a:r>
            <a:r>
              <a:rPr lang="de-DE" sz="2000" b="1" dirty="0" err="1">
                <a:solidFill>
                  <a:schemeClr val="tx1"/>
                </a:solidFill>
              </a:rPr>
              <a:t>example</a:t>
            </a:r>
            <a:r>
              <a:rPr lang="de-DE" sz="2000" b="1" dirty="0">
                <a:solidFill>
                  <a:schemeClr val="tx1"/>
                </a:solidFill>
              </a:rPr>
              <a:t> the </a:t>
            </a:r>
            <a:r>
              <a:rPr lang="en-US" sz="2000" b="1" dirty="0">
                <a:solidFill>
                  <a:schemeClr val="tx1"/>
                </a:solidFill>
                <a:hlinkClick r:id="rId2"/>
              </a:rPr>
              <a:t>EU Quality of Life Survey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0" name="Titel 4">
            <a:extLst>
              <a:ext uri="{FF2B5EF4-FFF2-40B4-BE49-F238E27FC236}">
                <a16:creationId xmlns:a16="http://schemas.microsoft.com/office/drawing/2014/main" id="{F330A549-ADEA-F496-E572-0477DDEB80F9}"/>
              </a:ext>
            </a:extLst>
          </p:cNvPr>
          <p:cNvSpPr txBox="1">
            <a:spLocks/>
          </p:cNvSpPr>
          <p:nvPr/>
        </p:nvSpPr>
        <p:spPr>
          <a:xfrm>
            <a:off x="2770607" y="1865452"/>
            <a:ext cx="4242702" cy="1688819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849E5134-17B8-68BA-176C-28A32385AA67}"/>
              </a:ext>
            </a:extLst>
          </p:cNvPr>
          <p:cNvSpPr/>
          <p:nvPr/>
        </p:nvSpPr>
        <p:spPr>
          <a:xfrm>
            <a:off x="5564342" y="3951428"/>
            <a:ext cx="2979583" cy="157097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Better </a:t>
            </a:r>
            <a:r>
              <a:rPr lang="de-DE" sz="2000" dirty="0" err="1">
                <a:solidFill>
                  <a:schemeClr val="tx1"/>
                </a:solidFill>
              </a:rPr>
              <a:t>access</a:t>
            </a:r>
            <a:r>
              <a:rPr lang="de-DE" sz="2000" dirty="0">
                <a:solidFill>
                  <a:schemeClr val="tx1"/>
                </a:solidFill>
              </a:rPr>
              <a:t> to </a:t>
            </a:r>
            <a:r>
              <a:rPr lang="de-DE" sz="2000" dirty="0" err="1">
                <a:solidFill>
                  <a:schemeClr val="tx1"/>
                </a:solidFill>
              </a:rPr>
              <a:t>green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spaces</a:t>
            </a:r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=</a:t>
            </a:r>
          </a:p>
          <a:p>
            <a:pPr algn="ctr"/>
            <a:r>
              <a:rPr lang="de-DE" sz="2000" dirty="0" err="1">
                <a:solidFill>
                  <a:schemeClr val="tx1"/>
                </a:solidFill>
              </a:rPr>
              <a:t>Greater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statisfaction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850A5F1-0B8C-B26D-88C2-AA50245D6ECB}"/>
              </a:ext>
            </a:extLst>
          </p:cNvPr>
          <p:cNvSpPr/>
          <p:nvPr/>
        </p:nvSpPr>
        <p:spPr>
          <a:xfrm>
            <a:off x="8652183" y="3951427"/>
            <a:ext cx="2979583" cy="157097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Wellbeing </a:t>
            </a: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&amp; </a:t>
            </a:r>
          </a:p>
          <a:p>
            <a:pPr algn="ctr"/>
            <a:r>
              <a:rPr lang="de-DE" sz="2000" dirty="0" err="1">
                <a:solidFill>
                  <a:schemeClr val="tx1"/>
                </a:solidFill>
              </a:rPr>
              <a:t>Healthy</a:t>
            </a:r>
            <a:r>
              <a:rPr lang="de-DE" sz="2000" dirty="0">
                <a:solidFill>
                  <a:schemeClr val="tx1"/>
                </a:solidFill>
              </a:rPr>
              <a:t> Cities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5D3E1D6C-D4D5-3529-D6A5-3A1E2C0FF14D}"/>
              </a:ext>
            </a:extLst>
          </p:cNvPr>
          <p:cNvSpPr txBox="1"/>
          <p:nvPr/>
        </p:nvSpPr>
        <p:spPr>
          <a:xfrm>
            <a:off x="652462" y="2109695"/>
            <a:ext cx="3743325" cy="1200329"/>
          </a:xfrm>
          <a:prstGeom prst="rect">
            <a:avLst/>
          </a:prstGeom>
          <a:gradFill flip="none" rotWithShape="1">
            <a:gsLst>
              <a:gs pos="0">
                <a:srgbClr val="99B9E7">
                  <a:alpha val="61000"/>
                </a:srgbClr>
              </a:gs>
              <a:gs pos="100000">
                <a:srgbClr val="99B9E7">
                  <a:alpha val="1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solidFill>
                  <a:srgbClr val="FFFFFF"/>
                </a:solidFill>
              </a:rPr>
              <a:t>Life</a:t>
            </a:r>
            <a:br>
              <a:rPr lang="de-DE" sz="3600" b="1" dirty="0">
                <a:solidFill>
                  <a:srgbClr val="FFFFFF"/>
                </a:solidFill>
              </a:rPr>
            </a:br>
            <a:r>
              <a:rPr lang="de-DE" sz="3600" b="1" dirty="0" err="1">
                <a:solidFill>
                  <a:srgbClr val="FFFFFF"/>
                </a:solidFill>
              </a:rPr>
              <a:t>Satisfaction</a:t>
            </a:r>
            <a:endParaRPr lang="de-DE" sz="3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39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E444D5E3-417C-8580-5058-2562A13FA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8FAAC5">
                  <a:tint val="66000"/>
                  <a:satMod val="160000"/>
                </a:srgbClr>
              </a:gs>
              <a:gs pos="50000">
                <a:srgbClr val="8FAAC5">
                  <a:tint val="44500"/>
                  <a:satMod val="160000"/>
                </a:srgbClr>
              </a:gs>
              <a:gs pos="100000">
                <a:srgbClr val="8FAAC5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6A4456-F3A9-C4A8-BC78-AAE95B3744F7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 err="1">
                <a:solidFill>
                  <a:schemeClr val="bg1"/>
                </a:solidFill>
              </a:rPr>
              <a:t>Where</a:t>
            </a:r>
            <a:r>
              <a:rPr lang="de-DE" sz="2800" b="1" dirty="0">
                <a:solidFill>
                  <a:schemeClr val="bg1"/>
                </a:solidFill>
              </a:rPr>
              <a:t> the </a:t>
            </a:r>
            <a:r>
              <a:rPr lang="de-DE" sz="2800" b="1" dirty="0" err="1">
                <a:solidFill>
                  <a:schemeClr val="bg1"/>
                </a:solidFill>
              </a:rPr>
              <a:t>data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comes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from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83DE6DC-29D0-D029-8645-6E48D1016865}"/>
              </a:ext>
            </a:extLst>
          </p:cNvPr>
          <p:cNvSpPr/>
          <p:nvPr/>
        </p:nvSpPr>
        <p:spPr>
          <a:xfrm>
            <a:off x="652462" y="147637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2"/>
              </a:rPr>
              <a:t>Quality of Life in European Cities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C9D1ABBA-1403-C6A0-0D24-069D9874D6A8}"/>
              </a:ext>
            </a:extLst>
          </p:cNvPr>
          <p:cNvSpPr/>
          <p:nvPr/>
        </p:nvSpPr>
        <p:spPr>
          <a:xfrm>
            <a:off x="652462" y="256287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3"/>
              </a:rPr>
              <a:t>Urban Atlas 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D92B460-F417-526D-404A-D04F8E457774}"/>
              </a:ext>
            </a:extLst>
          </p:cNvPr>
          <p:cNvSpPr/>
          <p:nvPr/>
        </p:nvSpPr>
        <p:spPr>
          <a:xfrm>
            <a:off x="652462" y="364938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4"/>
              </a:rPr>
              <a:t>European </a:t>
            </a:r>
            <a:r>
              <a:rPr lang="de-DE" sz="2000" dirty="0" err="1">
                <a:solidFill>
                  <a:schemeClr val="tx1"/>
                </a:solidFill>
                <a:hlinkClick r:id="rId4"/>
              </a:rPr>
              <a:t>city</a:t>
            </a:r>
            <a:r>
              <a:rPr lang="de-DE" sz="2000" dirty="0">
                <a:solidFill>
                  <a:schemeClr val="tx1"/>
                </a:solidFill>
                <a:hlinkClick r:id="rId4"/>
              </a:rPr>
              <a:t> </a:t>
            </a:r>
            <a:r>
              <a:rPr lang="de-DE" sz="2000" dirty="0" err="1">
                <a:solidFill>
                  <a:schemeClr val="tx1"/>
                </a:solidFill>
                <a:hlinkClick r:id="rId4"/>
              </a:rPr>
              <a:t>air</a:t>
            </a:r>
            <a:r>
              <a:rPr lang="de-DE" sz="2000" dirty="0">
                <a:solidFill>
                  <a:schemeClr val="tx1"/>
                </a:solidFill>
                <a:hlinkClick r:id="rId4"/>
              </a:rPr>
              <a:t> </a:t>
            </a:r>
            <a:r>
              <a:rPr lang="de-DE" sz="2000" dirty="0" err="1">
                <a:solidFill>
                  <a:schemeClr val="tx1"/>
                </a:solidFill>
                <a:hlinkClick r:id="rId4"/>
              </a:rPr>
              <a:t>quality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520E311A-47D0-07E9-94E7-F7F82ACE3101}"/>
              </a:ext>
            </a:extLst>
          </p:cNvPr>
          <p:cNvSpPr/>
          <p:nvPr/>
        </p:nvSpPr>
        <p:spPr>
          <a:xfrm>
            <a:off x="652462" y="473588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  <a:hlinkClick r:id="rId5"/>
              </a:rPr>
              <a:t>City </a:t>
            </a:r>
            <a:r>
              <a:rPr lang="de-DE" sz="2000" dirty="0" err="1">
                <a:solidFill>
                  <a:schemeClr val="tx1"/>
                </a:solidFill>
                <a:hlinkClick r:id="rId5"/>
              </a:rPr>
              <a:t>statistics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943D89-945D-D2C8-F386-21A997984B19}"/>
              </a:ext>
            </a:extLst>
          </p:cNvPr>
          <p:cNvSpPr/>
          <p:nvPr/>
        </p:nvSpPr>
        <p:spPr>
          <a:xfrm>
            <a:off x="955983" y="1756636"/>
            <a:ext cx="3101667" cy="325298"/>
          </a:xfrm>
          <a:prstGeom prst="roundRect">
            <a:avLst/>
          </a:prstGeom>
          <a:solidFill>
            <a:srgbClr val="AB81FF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European </a:t>
            </a:r>
            <a:r>
              <a:rPr lang="de-DE" sz="2000" dirty="0" err="1">
                <a:solidFill>
                  <a:schemeClr val="tx1"/>
                </a:solidFill>
              </a:rPr>
              <a:t>Comission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8AED4E23-2864-903A-178F-EEE3AF5BB387}"/>
              </a:ext>
            </a:extLst>
          </p:cNvPr>
          <p:cNvSpPr/>
          <p:nvPr/>
        </p:nvSpPr>
        <p:spPr>
          <a:xfrm>
            <a:off x="955982" y="2843141"/>
            <a:ext cx="3101667" cy="325298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EEA / Copernicus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B133CC92-E9F1-5B6D-33F7-78FB27A6A54D}"/>
              </a:ext>
            </a:extLst>
          </p:cNvPr>
          <p:cNvSpPr/>
          <p:nvPr/>
        </p:nvSpPr>
        <p:spPr>
          <a:xfrm>
            <a:off x="955981" y="3929646"/>
            <a:ext cx="3101667" cy="32529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EEA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74DD9A88-137C-0D3F-A9D2-82012534A68A}"/>
              </a:ext>
            </a:extLst>
          </p:cNvPr>
          <p:cNvSpPr/>
          <p:nvPr/>
        </p:nvSpPr>
        <p:spPr>
          <a:xfrm>
            <a:off x="955980" y="5016151"/>
            <a:ext cx="3101667" cy="325298"/>
          </a:xfrm>
          <a:prstGeom prst="roundRect">
            <a:avLst/>
          </a:prstGeom>
          <a:solidFill>
            <a:srgbClr val="FFCC66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Eurostat</a:t>
            </a:r>
          </a:p>
        </p:txBody>
      </p:sp>
    </p:spTree>
    <p:extLst>
      <p:ext uri="{BB962C8B-B14F-4D97-AF65-F5344CB8AC3E}">
        <p14:creationId xmlns:p14="http://schemas.microsoft.com/office/powerpoint/2010/main" val="3753212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5AC871-967C-B336-94AF-BFCFCC78C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FB71BB2-D703-72BD-9ACC-7DCDAA856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F8098F5-1E60-ED9C-9823-0D598F9309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CA6962A-23FF-01A4-6F3A-71FE826F62B2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will the </a:t>
            </a:r>
            <a:r>
              <a:rPr lang="de-DE" sz="2800" b="1" dirty="0" err="1">
                <a:solidFill>
                  <a:schemeClr val="bg1"/>
                </a:solidFill>
              </a:rPr>
              <a:t>question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be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answered</a:t>
            </a:r>
            <a:r>
              <a:rPr lang="de-DE"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909D9C5-F426-22DB-F062-35C000C14958}"/>
              </a:ext>
            </a:extLst>
          </p:cNvPr>
          <p:cNvSpPr/>
          <p:nvPr/>
        </p:nvSpPr>
        <p:spPr>
          <a:xfrm>
            <a:off x="525618" y="1781825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 err="1">
                <a:solidFill>
                  <a:schemeClr val="tx1"/>
                </a:solidFill>
              </a:rPr>
              <a:t>Correlation</a:t>
            </a:r>
            <a:r>
              <a:rPr lang="de-DE" sz="2400" b="1" dirty="0">
                <a:solidFill>
                  <a:schemeClr val="tx1"/>
                </a:solidFill>
              </a:rPr>
              <a:t> </a:t>
            </a:r>
            <a:r>
              <a:rPr lang="de-DE" sz="2400" b="1" dirty="0" err="1">
                <a:solidFill>
                  <a:schemeClr val="tx1"/>
                </a:solidFill>
              </a:rPr>
              <a:t>is</a:t>
            </a:r>
            <a:r>
              <a:rPr lang="de-DE" sz="2400" b="1" dirty="0">
                <a:solidFill>
                  <a:schemeClr val="tx1"/>
                </a:solidFill>
              </a:rPr>
              <a:t> not </a:t>
            </a:r>
            <a:r>
              <a:rPr lang="de-DE" sz="2400" b="1" dirty="0" err="1">
                <a:solidFill>
                  <a:schemeClr val="tx1"/>
                </a:solidFill>
              </a:rPr>
              <a:t>causation</a:t>
            </a:r>
            <a:endParaRPr lang="de-DE" sz="2400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A </a:t>
            </a:r>
            <a:r>
              <a:rPr lang="de-DE" dirty="0" err="1">
                <a:solidFill>
                  <a:schemeClr val="tx1"/>
                </a:solidFill>
              </a:rPr>
              <a:t>greener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city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more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satisfied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without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greenery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being</a:t>
            </a:r>
            <a:r>
              <a:rPr lang="de-DE" dirty="0">
                <a:solidFill>
                  <a:schemeClr val="tx1"/>
                </a:solidFill>
              </a:rPr>
              <a:t> the </a:t>
            </a:r>
            <a:r>
              <a:rPr lang="de-DE" dirty="0" err="1">
                <a:solidFill>
                  <a:schemeClr val="tx1"/>
                </a:solidFill>
              </a:rPr>
              <a:t>reason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2D9A621-6B28-36EF-1ACA-3E26C783D517}"/>
              </a:ext>
            </a:extLst>
          </p:cNvPr>
          <p:cNvSpPr/>
          <p:nvPr/>
        </p:nvSpPr>
        <p:spPr>
          <a:xfrm>
            <a:off x="4506197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Green not </a:t>
            </a:r>
            <a:r>
              <a:rPr lang="de-DE" sz="2400" b="1" dirty="0" err="1">
                <a:solidFill>
                  <a:schemeClr val="tx1"/>
                </a:solidFill>
              </a:rPr>
              <a:t>equal</a:t>
            </a:r>
            <a:r>
              <a:rPr lang="de-DE" sz="2400" b="1" dirty="0">
                <a:solidFill>
                  <a:schemeClr val="tx1"/>
                </a:solidFill>
              </a:rPr>
              <a:t> to </a:t>
            </a:r>
            <a:r>
              <a:rPr lang="de-DE" sz="2400" b="1" dirty="0" err="1">
                <a:solidFill>
                  <a:schemeClr val="tx1"/>
                </a:solidFill>
              </a:rPr>
              <a:t>access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A </a:t>
            </a:r>
            <a:r>
              <a:rPr lang="de-DE" dirty="0" err="1">
                <a:solidFill>
                  <a:schemeClr val="tx1"/>
                </a:solidFill>
              </a:rPr>
              <a:t>city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can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have</a:t>
            </a:r>
            <a:r>
              <a:rPr lang="de-DE" dirty="0">
                <a:solidFill>
                  <a:schemeClr val="tx1"/>
                </a:solidFill>
              </a:rPr>
              <a:t> lots of </a:t>
            </a:r>
            <a:r>
              <a:rPr lang="de-DE" dirty="0" err="1">
                <a:solidFill>
                  <a:schemeClr val="tx1"/>
                </a:solidFill>
              </a:rPr>
              <a:t>green</a:t>
            </a:r>
            <a:r>
              <a:rPr lang="de-DE" dirty="0">
                <a:solidFill>
                  <a:schemeClr val="tx1"/>
                </a:solidFill>
              </a:rPr>
              <a:t> area </a:t>
            </a:r>
            <a:r>
              <a:rPr lang="de-DE" dirty="0" err="1">
                <a:solidFill>
                  <a:schemeClr val="tx1"/>
                </a:solidFill>
              </a:rPr>
              <a:t>taht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is</a:t>
            </a:r>
            <a:r>
              <a:rPr lang="de-DE" dirty="0">
                <a:solidFill>
                  <a:schemeClr val="tx1"/>
                </a:solidFill>
              </a:rPr>
              <a:t> not </a:t>
            </a:r>
            <a:r>
              <a:rPr lang="de-DE" dirty="0" err="1">
                <a:solidFill>
                  <a:schemeClr val="tx1"/>
                </a:solidFill>
              </a:rPr>
              <a:t>reachable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or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usable</a:t>
            </a:r>
            <a:r>
              <a:rPr lang="de-DE" dirty="0">
                <a:solidFill>
                  <a:schemeClr val="tx1"/>
                </a:solidFill>
              </a:rPr>
              <a:t> by </a:t>
            </a:r>
            <a:r>
              <a:rPr lang="de-DE" dirty="0" err="1">
                <a:solidFill>
                  <a:schemeClr val="tx1"/>
                </a:solidFill>
              </a:rPr>
              <a:t>residents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A8E85EB-7F9E-5421-255F-2A2E7AA996C2}"/>
              </a:ext>
            </a:extLst>
          </p:cNvPr>
          <p:cNvSpPr/>
          <p:nvPr/>
        </p:nvSpPr>
        <p:spPr>
          <a:xfrm>
            <a:off x="8486774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chemeClr val="tx1"/>
                </a:solidFill>
              </a:rPr>
              <a:t>City </a:t>
            </a:r>
            <a:r>
              <a:rPr lang="de-DE" sz="2400" b="1" dirty="0" err="1">
                <a:solidFill>
                  <a:schemeClr val="tx1"/>
                </a:solidFill>
              </a:rPr>
              <a:t>context</a:t>
            </a:r>
            <a:r>
              <a:rPr lang="de-DE" sz="2400" b="1" dirty="0">
                <a:solidFill>
                  <a:schemeClr val="tx1"/>
                </a:solidFill>
              </a:rPr>
              <a:t> matter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Income, </a:t>
            </a:r>
            <a:r>
              <a:rPr lang="de-DE" dirty="0" err="1">
                <a:solidFill>
                  <a:schemeClr val="tx1"/>
                </a:solidFill>
              </a:rPr>
              <a:t>housing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mobility</a:t>
            </a:r>
            <a:r>
              <a:rPr lang="de-DE" dirty="0">
                <a:solidFill>
                  <a:schemeClr val="tx1"/>
                </a:solidFill>
              </a:rPr>
              <a:t>, </a:t>
            </a:r>
            <a:r>
              <a:rPr lang="de-DE" dirty="0" err="1">
                <a:solidFill>
                  <a:schemeClr val="tx1"/>
                </a:solidFill>
              </a:rPr>
              <a:t>climate</a:t>
            </a:r>
            <a:r>
              <a:rPr lang="de-DE" dirty="0">
                <a:solidFill>
                  <a:schemeClr val="tx1"/>
                </a:solidFill>
              </a:rPr>
              <a:t> and </a:t>
            </a:r>
            <a:r>
              <a:rPr lang="de-DE" dirty="0" err="1">
                <a:solidFill>
                  <a:schemeClr val="tx1"/>
                </a:solidFill>
              </a:rPr>
              <a:t>other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differences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shape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life</a:t>
            </a:r>
            <a:r>
              <a:rPr lang="de-DE" dirty="0">
                <a:solidFill>
                  <a:schemeClr val="tx1"/>
                </a:solidFill>
              </a:rPr>
              <a:t> </a:t>
            </a:r>
            <a:r>
              <a:rPr lang="de-DE" dirty="0" err="1">
                <a:solidFill>
                  <a:schemeClr val="tx1"/>
                </a:solidFill>
              </a:rPr>
              <a:t>satisfaction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5D7A8BF-5FF0-37A3-0D77-B5FF8FAAE616}"/>
              </a:ext>
            </a:extLst>
          </p:cNvPr>
          <p:cNvSpPr txBox="1"/>
          <p:nvPr/>
        </p:nvSpPr>
        <p:spPr>
          <a:xfrm>
            <a:off x="652462" y="610552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Find a </a:t>
            </a:r>
            <a:r>
              <a:rPr lang="de-DE" sz="2800" b="1" dirty="0" err="1">
                <a:solidFill>
                  <a:schemeClr val="bg1"/>
                </a:solidFill>
              </a:rPr>
              <a:t>clear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pattern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without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claiming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that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green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causes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happiness</a:t>
            </a:r>
            <a:endParaRPr lang="de-DE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5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78490F9-E0E5-E0AF-5297-61FA8CE1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A6E00E4D-1487-D0A6-6E0D-9121D7D7F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683804-28B0-26F4-FB86-DED899CCAE72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How will the </a:t>
            </a:r>
            <a:r>
              <a:rPr lang="de-DE" sz="2800" b="1" dirty="0" err="1">
                <a:solidFill>
                  <a:schemeClr val="bg1"/>
                </a:solidFill>
              </a:rPr>
              <a:t>question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be</a:t>
            </a:r>
            <a:r>
              <a:rPr lang="de-DE" sz="2800" b="1" dirty="0">
                <a:solidFill>
                  <a:schemeClr val="bg1"/>
                </a:solidFill>
              </a:rPr>
              <a:t> </a:t>
            </a:r>
            <a:r>
              <a:rPr lang="de-DE" sz="2800" b="1" dirty="0" err="1">
                <a:solidFill>
                  <a:schemeClr val="bg1"/>
                </a:solidFill>
              </a:rPr>
              <a:t>answered</a:t>
            </a:r>
            <a:r>
              <a:rPr lang="de-DE" sz="28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DFC4A3A8-6293-7667-B389-766AF18A460E}"/>
              </a:ext>
            </a:extLst>
          </p:cNvPr>
          <p:cNvSpPr/>
          <p:nvPr/>
        </p:nvSpPr>
        <p:spPr>
          <a:xfrm>
            <a:off x="525618" y="1781825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Match </a:t>
            </a:r>
            <a:r>
              <a:rPr lang="de-DE" sz="2800" b="1" dirty="0" err="1">
                <a:solidFill>
                  <a:schemeClr val="tx1"/>
                </a:solidFill>
              </a:rPr>
              <a:t>citites</a:t>
            </a:r>
            <a:endParaRPr lang="de-DE" sz="2800" b="1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Find </a:t>
            </a:r>
            <a:r>
              <a:rPr lang="de-DE" sz="2000" dirty="0" err="1">
                <a:solidFill>
                  <a:schemeClr val="tx1"/>
                </a:solidFill>
              </a:rPr>
              <a:t>cities</a:t>
            </a:r>
            <a:r>
              <a:rPr lang="de-DE" sz="2000" dirty="0">
                <a:solidFill>
                  <a:schemeClr val="tx1"/>
                </a:solidFill>
              </a:rPr>
              <a:t> in the </a:t>
            </a:r>
            <a:r>
              <a:rPr lang="de-DE" sz="2000" dirty="0" err="1">
                <a:solidFill>
                  <a:schemeClr val="tx1"/>
                </a:solidFill>
              </a:rPr>
              <a:t>datasets</a:t>
            </a:r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8B4246D6-04A3-D996-46E5-F2847F363AA7}"/>
              </a:ext>
            </a:extLst>
          </p:cNvPr>
          <p:cNvSpPr/>
          <p:nvPr/>
        </p:nvSpPr>
        <p:spPr>
          <a:xfrm>
            <a:off x="4506197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b="1" dirty="0" err="1">
                <a:solidFill>
                  <a:schemeClr val="tx1"/>
                </a:solidFill>
              </a:rPr>
              <a:t>Compare</a:t>
            </a:r>
            <a:endParaRPr lang="de-DE" sz="2000" b="1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 err="1">
                <a:solidFill>
                  <a:schemeClr val="tx1"/>
                </a:solidFill>
              </a:rPr>
              <a:t>Relate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green-space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share</a:t>
            </a:r>
            <a:r>
              <a:rPr lang="de-DE" sz="2000" dirty="0">
                <a:solidFill>
                  <a:schemeClr val="tx1"/>
                </a:solidFill>
              </a:rPr>
              <a:t> to </a:t>
            </a:r>
            <a:r>
              <a:rPr lang="de-DE" sz="2000" dirty="0" err="1">
                <a:solidFill>
                  <a:schemeClr val="tx1"/>
                </a:solidFill>
              </a:rPr>
              <a:t>reported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life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satisfaction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1AEC9C1-1554-69B1-5FEF-E5976AF22B89}"/>
              </a:ext>
            </a:extLst>
          </p:cNvPr>
          <p:cNvSpPr/>
          <p:nvPr/>
        </p:nvSpPr>
        <p:spPr>
          <a:xfrm>
            <a:off x="8486774" y="1781823"/>
            <a:ext cx="3179608" cy="2466325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800" b="1" dirty="0" err="1">
                <a:solidFill>
                  <a:schemeClr val="tx1"/>
                </a:solidFill>
              </a:rPr>
              <a:t>Visualise</a:t>
            </a:r>
            <a:endParaRPr lang="de-DE" sz="2000" b="1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Strong </a:t>
            </a:r>
            <a:r>
              <a:rPr lang="de-DE" sz="2000" dirty="0" err="1">
                <a:solidFill>
                  <a:schemeClr val="tx1"/>
                </a:solidFill>
              </a:rPr>
              <a:t>focus</a:t>
            </a:r>
            <a:r>
              <a:rPr lang="de-DE" sz="2000" dirty="0">
                <a:solidFill>
                  <a:schemeClr val="tx1"/>
                </a:solidFill>
              </a:rPr>
              <a:t> on the </a:t>
            </a:r>
            <a:r>
              <a:rPr lang="de-DE" sz="2000" dirty="0" err="1">
                <a:solidFill>
                  <a:schemeClr val="tx1"/>
                </a:solidFill>
              </a:rPr>
              <a:t>visualisation</a:t>
            </a:r>
            <a:r>
              <a:rPr lang="de-DE" sz="2000" dirty="0">
                <a:solidFill>
                  <a:schemeClr val="tx1"/>
                </a:solidFill>
              </a:rPr>
              <a:t> of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endParaRPr lang="de-DE" sz="2000" dirty="0">
              <a:solidFill>
                <a:schemeClr val="tx1"/>
              </a:solidFill>
            </a:endParaRPr>
          </a:p>
          <a:p>
            <a:pPr algn="ctr"/>
            <a:endParaRPr lang="de-D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0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E87361-C678-E69A-ACE2-D3C790CF8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13A774D-FF35-52F4-23A1-E7933F959C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5000">
                <a:srgbClr val="C0D0DE"/>
              </a:gs>
              <a:gs pos="65000">
                <a:srgbClr val="A6B8C6">
                  <a:tint val="44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38931FE-4B58-CD3F-4C18-89D33F37D2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6032500"/>
            <a:ext cx="12192000" cy="825500"/>
          </a:xfrm>
          <a:prstGeom prst="rect">
            <a:avLst/>
          </a:prstGeom>
          <a:solidFill>
            <a:srgbClr val="5B69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768D11B-2897-72ED-4035-D91237BDFB1F}"/>
              </a:ext>
            </a:extLst>
          </p:cNvPr>
          <p:cNvSpPr txBox="1"/>
          <p:nvPr/>
        </p:nvSpPr>
        <p:spPr>
          <a:xfrm>
            <a:off x="652462" y="752475"/>
            <a:ext cx="10887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b="1" dirty="0">
                <a:solidFill>
                  <a:schemeClr val="bg1"/>
                </a:solidFill>
              </a:rPr>
              <a:t>Work </a:t>
            </a:r>
            <a:r>
              <a:rPr lang="de-DE" sz="2800" b="1" dirty="0" err="1">
                <a:solidFill>
                  <a:schemeClr val="bg1"/>
                </a:solidFill>
              </a:rPr>
              <a:t>approach</a:t>
            </a:r>
            <a:endParaRPr lang="de-DE" sz="2800" b="1" dirty="0">
              <a:solidFill>
                <a:schemeClr val="bg1"/>
              </a:solidFill>
            </a:endParaRP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F58C852-73E9-102D-A8FF-6DECA2EDE1B1}"/>
              </a:ext>
            </a:extLst>
          </p:cNvPr>
          <p:cNvSpPr/>
          <p:nvPr/>
        </p:nvSpPr>
        <p:spPr>
          <a:xfrm>
            <a:off x="652462" y="147637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Find  &amp; Clean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0B43B3C6-5FA9-60C2-80C5-4295E80B9EAA}"/>
              </a:ext>
            </a:extLst>
          </p:cNvPr>
          <p:cNvSpPr/>
          <p:nvPr/>
        </p:nvSpPr>
        <p:spPr>
          <a:xfrm>
            <a:off x="652462" y="256287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Match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r>
              <a:rPr lang="de-DE" sz="2000" dirty="0">
                <a:solidFill>
                  <a:schemeClr val="tx1"/>
                </a:solidFill>
              </a:rPr>
              <a:t> to the </a:t>
            </a:r>
            <a:r>
              <a:rPr lang="de-DE" sz="2000" dirty="0" err="1">
                <a:solidFill>
                  <a:schemeClr val="tx1"/>
                </a:solidFill>
              </a:rPr>
              <a:t>cities</a:t>
            </a:r>
            <a:r>
              <a:rPr lang="de-DE" sz="2000" dirty="0">
                <a:solidFill>
                  <a:schemeClr val="tx1"/>
                </a:solidFill>
              </a:rPr>
              <a:t>, </a:t>
            </a:r>
            <a:r>
              <a:rPr lang="de-DE" sz="2000" dirty="0" err="1">
                <a:solidFill>
                  <a:schemeClr val="tx1"/>
                </a:solidFill>
              </a:rPr>
              <a:t>keeping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only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cities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that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can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be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comapred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reliably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B1218EA2-E101-F91E-C562-212A6EE4F949}"/>
              </a:ext>
            </a:extLst>
          </p:cNvPr>
          <p:cNvSpPr/>
          <p:nvPr/>
        </p:nvSpPr>
        <p:spPr>
          <a:xfrm>
            <a:off x="652462" y="3649381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>
                <a:solidFill>
                  <a:schemeClr val="tx1"/>
                </a:solidFill>
              </a:rPr>
              <a:t>Analyse and </a:t>
            </a:r>
            <a:r>
              <a:rPr lang="de-DE" sz="2000" dirty="0" err="1">
                <a:solidFill>
                  <a:schemeClr val="tx1"/>
                </a:solidFill>
              </a:rPr>
              <a:t>test</a:t>
            </a:r>
            <a:r>
              <a:rPr lang="de-DE" sz="2000" dirty="0">
                <a:solidFill>
                  <a:schemeClr val="tx1"/>
                </a:solidFill>
              </a:rPr>
              <a:t> the </a:t>
            </a:r>
            <a:r>
              <a:rPr lang="de-DE" sz="2000" dirty="0" err="1">
                <a:solidFill>
                  <a:schemeClr val="tx1"/>
                </a:solidFill>
              </a:rPr>
              <a:t>the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correlation</a:t>
            </a:r>
            <a:r>
              <a:rPr lang="de-DE" sz="2000" dirty="0">
                <a:solidFill>
                  <a:schemeClr val="tx1"/>
                </a:solidFill>
              </a:rPr>
              <a:t>; </a:t>
            </a:r>
            <a:r>
              <a:rPr lang="de-DE" sz="2000" dirty="0" err="1">
                <a:solidFill>
                  <a:schemeClr val="tx1"/>
                </a:solidFill>
              </a:rPr>
              <a:t>flag</a:t>
            </a:r>
            <a:r>
              <a:rPr lang="de-DE" sz="2000" dirty="0">
                <a:solidFill>
                  <a:schemeClr val="tx1"/>
                </a:solidFill>
              </a:rPr>
              <a:t> </a:t>
            </a:r>
            <a:r>
              <a:rPr lang="de-DE" sz="2000" dirty="0" err="1">
                <a:solidFill>
                  <a:schemeClr val="tx1"/>
                </a:solidFill>
              </a:rPr>
              <a:t>outliers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9200718-4473-BDFD-30D6-1E69EAE4C186}"/>
              </a:ext>
            </a:extLst>
          </p:cNvPr>
          <p:cNvSpPr/>
          <p:nvPr/>
        </p:nvSpPr>
        <p:spPr>
          <a:xfrm>
            <a:off x="652462" y="4735886"/>
            <a:ext cx="10887076" cy="885829"/>
          </a:xfrm>
          <a:prstGeom prst="round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dirty="0" err="1">
                <a:solidFill>
                  <a:schemeClr val="tx1"/>
                </a:solidFill>
              </a:rPr>
              <a:t>Visualize</a:t>
            </a:r>
            <a:r>
              <a:rPr lang="de-DE" sz="2000" dirty="0">
                <a:solidFill>
                  <a:schemeClr val="tx1"/>
                </a:solidFill>
              </a:rPr>
              <a:t> the </a:t>
            </a:r>
            <a:r>
              <a:rPr lang="de-DE" sz="2000" dirty="0" err="1">
                <a:solidFill>
                  <a:schemeClr val="tx1"/>
                </a:solidFill>
              </a:rPr>
              <a:t>data</a:t>
            </a:r>
            <a:endParaRPr lang="de-D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995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331</Words>
  <Application>Microsoft Office PowerPoint</Application>
  <PresentationFormat>Breitbild</PresentationFormat>
  <Paragraphs>67</Paragraphs>
  <Slides>8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Are greener cities happier?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R</dc:creator>
  <cp:lastModifiedBy>Robert R</cp:lastModifiedBy>
  <cp:revision>4</cp:revision>
  <dcterms:created xsi:type="dcterms:W3CDTF">2026-10-06T16:05:39Z</dcterms:created>
  <dcterms:modified xsi:type="dcterms:W3CDTF">2026-10-13T22:58:40Z</dcterms:modified>
</cp:coreProperties>
</file>
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6" r:id="rId9"/>
    <p:sldId id="268" r:id="rId10"/>
    <p:sldId id="269" r:id="rId11"/>
    <p:sldId id="264" r:id="rId12"/>
    <p:sldId id="261" r:id="rId13"/>
    <p:sldId id="262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7F5"/>
    <a:srgbClr val="D5E3F3"/>
    <a:srgbClr val="FFCC66"/>
    <a:srgbClr val="AB81FF"/>
    <a:srgbClr val="99B9E7"/>
    <a:srgbClr val="B7CDEE"/>
    <a:srgbClr val="C0D0DE"/>
    <a:srgbClr val="729DC8"/>
    <a:srgbClr val="77A1C7"/>
    <a:srgbClr val="5B69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9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0D89E-34C0-4680-A4C5-61EE38E68973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59D7A-4409-4929-AFD1-E45C88CB42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702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59D7A-4409-4929-AFD1-E45C88CB428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921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8B859B-9E0D-E66C-D88D-CAB2980B4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C774A0-6D80-F565-3522-A5F2953A0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2C7341-0B60-2697-B4FB-3960AE14F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17055D-7412-45C6-A9D5-B56414A6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17AAFD-8E74-85C6-AC47-F324697C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891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5FCEF-3851-DE7B-C440-C4618959B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3B5BD1-1C6E-8838-EEA1-1915CCB67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C53911-AA27-2D91-8344-45B77AD3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0E20BA-FF56-119E-289A-63570309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FED644-6B5B-F659-DF5A-2E0C3AF2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117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4C48BD-5779-1802-DA8A-54A4AA94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6E6614-2801-0042-EE79-83FF9D72D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067D88-0D08-0EA9-BDCC-F9A87DE1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4A11CD-F1A8-F826-8E95-49C6EC83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FC5779-E6F5-DCAC-2BB7-699033E7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992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200FDC-D982-7487-C0B6-7CA424B8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143943-BE84-3C0E-245E-6A592C6AB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121601-46CD-0898-18CB-480F412B1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28C5B7-66A2-52CD-818C-46FC425D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07DD59-4AEB-27B9-9DA3-6114775B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92805A-224B-E435-1D14-D61537D0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5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E49CB7-F604-6A5E-FFA2-93B79167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D50336-17EB-6F59-F158-7ACFCF340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DC9D23-8FB8-7B84-9FBA-60C652181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BD8138-CF31-0A19-BE7C-F9F196DBF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53735D-DCFE-0ADA-4DBF-BE5649F4E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5C1A829-D09F-CC94-8052-1D9C7DFA7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3DDAC97-7C36-2B28-EF4D-3676F5BA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20E1742-0E5B-97F0-16A5-54FB62A0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078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41C662-B1D1-D48A-462F-618192FB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745148-DDFF-C22F-D7B4-2342F4C0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5CA3B-54EE-4789-44FD-A44D6D6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C33354-F990-5830-6B9A-515172D8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42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50DF7A8-DFDB-3156-18B9-3F4B1292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94A5D83-2FF1-EC61-2C82-23A3F76F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CFBBAD-BA6D-63DD-3413-C3B222F3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966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7F05C1-DA6A-F4E5-F56D-B72282C8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F162F4-8A69-960B-FF7B-B792E0C9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3A2951-D660-CB5F-2FD6-8889194F4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536418-C109-BCA3-AA37-1EBCBA8C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94F6C8-E0F4-6C2E-1ECA-C2B2D6E5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AA6281-488C-4019-193C-F7E20C57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053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3D0201-7AA2-E0B4-15F5-E0A76E4E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D143BA-6177-8E00-E9B6-B640FDDEFF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DA68CC-84F9-342A-E83D-57E8BC37F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B6EB1D-CC22-EC89-6535-BC96F69D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2FCA63-4691-7563-2BD2-A955E16B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A336D8-13D4-010F-F93C-07BD35D3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619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3E0C4-9A50-1C6A-3D72-F2381B11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A15867-25C7-1D78-7789-58D218565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18B3A3-46F8-2EDB-ED70-F4040A40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925AF8-A3D0-676B-2E00-2991B11D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231D47-3764-6DE2-9DEB-A4E8EECD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649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82BC393-C7B5-22D9-96A3-5224375F2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C0ED87-420D-74A7-5557-122627D41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25537A-35D7-2E5D-24F0-B22D7B8AC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E1CFC7-0744-1521-F1AC-AFA1511B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21D579-13A6-F586-A3E9-3D1AA3F3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961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6721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06322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D8561EA-7AB2-9081-8337-8273B004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F94D1F-DF5A-CC52-2EB4-EB1215449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465068-6A0D-21B1-8EA7-5DA0D81AC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ABDC81-9380-9586-378A-9DA9EADFF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F6A1E6-7977-F16B-2FEA-97092A30F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5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c.europa.eu/regional_policy/sources/reports/qol2023/2023_quality_life_european_cities_en.pdf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and.copernicus.eu/en/products/urban-atlas" TargetMode="External"/><Relationship Id="rId2" Type="http://schemas.openxmlformats.org/officeDocument/2006/relationships/hyperlink" Target="https://ec.europa.eu/regional_policy/sources/reports/qol2023/2023_quality_life_european_cities_en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ec.europa.eu/eurostat/web/cities/database" TargetMode="External"/><Relationship Id="rId4" Type="http://schemas.openxmlformats.org/officeDocument/2006/relationships/hyperlink" Target="https://www.eea.europa.eu/en/analysis/maps-and-charts/inde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 descr="Einzelner Baum auf einem Feld mit Skyline in nebliger Entfernung">
            <a:extLst>
              <a:ext uri="{FF2B5EF4-FFF2-40B4-BE49-F238E27FC236}">
                <a16:creationId xmlns:a16="http://schemas.microsoft.com/office/drawing/2014/main" id="{32980C65-69E6-216A-51C5-504F3370A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99" b="7715"/>
          <a:stretch>
            <a:fillRect/>
          </a:stretch>
        </p:blipFill>
        <p:spPr>
          <a:xfrm>
            <a:off x="-15476" y="0"/>
            <a:ext cx="12191979" cy="685799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5463C467-18F7-2B6B-A3F0-32E1951C7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0513" y="4302061"/>
            <a:ext cx="5623891" cy="87000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1600" dirty="0"/>
              <a:t>An </a:t>
            </a:r>
            <a:r>
              <a:rPr lang="de-DE" sz="1600" dirty="0" err="1"/>
              <a:t>exploration</a:t>
            </a:r>
            <a:r>
              <a:rPr lang="de-DE" sz="1600" dirty="0"/>
              <a:t> of urban </a:t>
            </a:r>
            <a:r>
              <a:rPr lang="de-DE" sz="1600" dirty="0" err="1"/>
              <a:t>greenness</a:t>
            </a:r>
            <a:r>
              <a:rPr lang="de-DE" sz="1600" dirty="0"/>
              <a:t> &amp; </a:t>
            </a:r>
            <a:r>
              <a:rPr lang="de-DE" sz="1600" dirty="0" err="1"/>
              <a:t>life</a:t>
            </a:r>
            <a:r>
              <a:rPr lang="de-DE" sz="1600" dirty="0"/>
              <a:t> </a:t>
            </a:r>
            <a:r>
              <a:rPr lang="de-DE" sz="1600" dirty="0" err="1"/>
              <a:t>satisfaction</a:t>
            </a:r>
            <a:r>
              <a:rPr lang="de-DE" sz="1600" dirty="0"/>
              <a:t> in European </a:t>
            </a:r>
            <a:r>
              <a:rPr lang="de-DE" sz="1600" dirty="0" err="1"/>
              <a:t>cities</a:t>
            </a:r>
            <a:endParaRPr lang="de-DE" sz="1600" dirty="0">
              <a:solidFill>
                <a:srgbClr val="FFFFFF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776F37-C1EF-025E-9B32-06AA270A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107" y="1543330"/>
            <a:ext cx="4242702" cy="1688819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3600" b="1" dirty="0">
                <a:solidFill>
                  <a:srgbClr val="FFFFFF"/>
                </a:solidFill>
              </a:rPr>
              <a:t>Are </a:t>
            </a:r>
            <a:r>
              <a:rPr lang="de-DE" sz="3600" b="1" dirty="0" err="1">
                <a:solidFill>
                  <a:srgbClr val="FFFFFF"/>
                </a:solidFill>
              </a:rPr>
              <a:t>greener</a:t>
            </a:r>
            <a:r>
              <a:rPr lang="de-DE" sz="3600" b="1" dirty="0">
                <a:solidFill>
                  <a:srgbClr val="FFFFFF"/>
                </a:solidFill>
              </a:rPr>
              <a:t> </a:t>
            </a:r>
            <a:r>
              <a:rPr lang="de-DE" sz="3600" b="1" dirty="0" err="1">
                <a:solidFill>
                  <a:srgbClr val="FFFFFF"/>
                </a:solidFill>
              </a:rPr>
              <a:t>cities</a:t>
            </a:r>
            <a:br>
              <a:rPr lang="de-DE" sz="3600" b="1" dirty="0">
                <a:solidFill>
                  <a:srgbClr val="FFFFFF"/>
                </a:solidFill>
              </a:rPr>
            </a:br>
            <a:r>
              <a:rPr lang="de-DE" sz="3600" b="1" dirty="0" err="1">
                <a:solidFill>
                  <a:srgbClr val="FFFFFF"/>
                </a:solidFill>
              </a:rPr>
              <a:t>happier</a:t>
            </a:r>
            <a:r>
              <a:rPr lang="de-DE" sz="3600" b="1" dirty="0">
                <a:solidFill>
                  <a:srgbClr val="FFFFFF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22839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B1A766E9-689B-F63B-8E5E-794F0C7D84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0176"/>
            <a:ext cx="12192000" cy="6868175"/>
          </a:xfrm>
          <a:prstGeom prst="rect">
            <a:avLst/>
          </a:prstGeom>
          <a:gradFill flip="none" rotWithShape="1">
            <a:gsLst>
              <a:gs pos="0">
                <a:srgbClr val="5F8EC4">
                  <a:shade val="67500"/>
                  <a:satMod val="115000"/>
                </a:srgbClr>
              </a:gs>
              <a:gs pos="33000">
                <a:srgbClr val="729DC8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0A17D5D-D218-BC63-A60D-978086051A0F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Can a </a:t>
            </a:r>
            <a:r>
              <a:rPr lang="de-DE" sz="2800" b="1" dirty="0" err="1">
                <a:solidFill>
                  <a:schemeClr val="bg1"/>
                </a:solidFill>
              </a:rPr>
              <a:t>city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affect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how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satisfied</a:t>
            </a:r>
            <a:r>
              <a:rPr lang="de-DE" sz="2800" b="1" dirty="0">
                <a:solidFill>
                  <a:schemeClr val="bg1"/>
                </a:solidFill>
              </a:rPr>
              <a:t> the </a:t>
            </a:r>
            <a:r>
              <a:rPr lang="de-DE" sz="2800" b="1" dirty="0" err="1">
                <a:solidFill>
                  <a:schemeClr val="bg1"/>
                </a:solidFill>
              </a:rPr>
              <a:t>residents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feel</a:t>
            </a:r>
            <a:r>
              <a:rPr lang="de-DE" sz="28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4667C41D-1BEB-9FA6-312B-9B3BC5FCEB6F}"/>
              </a:ext>
            </a:extLst>
          </p:cNvPr>
          <p:cNvSpPr/>
          <p:nvPr/>
        </p:nvSpPr>
        <p:spPr>
          <a:xfrm>
            <a:off x="652462" y="1666871"/>
            <a:ext cx="10887076" cy="4210054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Modern city life can feel fast-paced and stressful, dominated by screens and concrete. 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However, parks and green spaces offer opportunities to walk, relax and </a:t>
            </a:r>
            <a:r>
              <a:rPr lang="en-US" sz="2000" dirty="0" err="1">
                <a:ln w="0"/>
                <a:solidFill>
                  <a:schemeClr val="tx1"/>
                </a:solidFill>
              </a:rPr>
              <a:t>socialise</a:t>
            </a:r>
            <a:r>
              <a:rPr lang="en-US" sz="2000" dirty="0">
                <a:ln w="0"/>
                <a:solidFill>
                  <a:schemeClr val="tx1"/>
                </a:solidFill>
              </a:rPr>
              <a:t>, which can potentially improve residents’ well-being and satisfaction</a:t>
            </a: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pic>
        <p:nvPicPr>
          <p:cNvPr id="27" name="Grafik 26" descr="Stadt mit einfarbiger Füllung">
            <a:extLst>
              <a:ext uri="{FF2B5EF4-FFF2-40B4-BE49-F238E27FC236}">
                <a16:creationId xmlns:a16="http://schemas.microsoft.com/office/drawing/2014/main" id="{D731F9D0-4106-D7BA-CB7A-92083B6EE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4956" y="3580105"/>
            <a:ext cx="1276997" cy="1276997"/>
          </a:xfrm>
          <a:prstGeom prst="rect">
            <a:avLst/>
          </a:prstGeom>
        </p:spPr>
      </p:pic>
      <p:pic>
        <p:nvPicPr>
          <p:cNvPr id="29" name="Grafik 28" descr="Waldszenerie mit einfarbiger Füllung">
            <a:extLst>
              <a:ext uri="{FF2B5EF4-FFF2-40B4-BE49-F238E27FC236}">
                <a16:creationId xmlns:a16="http://schemas.microsoft.com/office/drawing/2014/main" id="{87D291AA-D706-0996-BFC5-ACABE1ED0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5372" y="3580106"/>
            <a:ext cx="1276996" cy="1276996"/>
          </a:xfrm>
          <a:prstGeom prst="rect">
            <a:avLst/>
          </a:prstGeom>
        </p:spPr>
      </p:pic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3BABDA8-26EB-BB3C-88C7-79E3571903F4}"/>
              </a:ext>
            </a:extLst>
          </p:cNvPr>
          <p:cNvCxnSpPr>
            <a:cxnSpLocks/>
          </p:cNvCxnSpPr>
          <p:nvPr/>
        </p:nvCxnSpPr>
        <p:spPr>
          <a:xfrm>
            <a:off x="5029200" y="4218603"/>
            <a:ext cx="225742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736E2416-35DE-4919-F701-56A467A54644}"/>
              </a:ext>
            </a:extLst>
          </p:cNvPr>
          <p:cNvSpPr txBox="1"/>
          <p:nvPr/>
        </p:nvSpPr>
        <p:spPr>
          <a:xfrm>
            <a:off x="652463" y="4857102"/>
            <a:ext cx="10887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ln w="0"/>
              </a:rPr>
              <a:t>do </a:t>
            </a:r>
            <a:r>
              <a:rPr lang="de-DE" sz="2000" dirty="0" err="1">
                <a:ln w="0"/>
              </a:rPr>
              <a:t>greener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cities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have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more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satisfied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residents</a:t>
            </a:r>
            <a:r>
              <a:rPr lang="de-DE" sz="2000" dirty="0">
                <a:ln w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7883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B6DA9F5-05A3-4706-BDC7-ECD1D51E62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6350"/>
            <a:ext cx="12192000" cy="6864350"/>
          </a:xfrm>
          <a:prstGeom prst="rect">
            <a:avLst/>
          </a:prstGeom>
          <a:gradFill flip="none" rotWithShape="1">
            <a:gsLst>
              <a:gs pos="3000">
                <a:srgbClr val="77A1C7"/>
              </a:gs>
              <a:gs pos="55000">
                <a:srgbClr val="6C98C9">
                  <a:tint val="66000"/>
                  <a:satMod val="160000"/>
                </a:srgbClr>
              </a:gs>
              <a:gs pos="100000">
                <a:srgbClr val="6C98C9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CBAE46-3DB4-7C67-9741-CC799AD6928E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How to </a:t>
            </a:r>
            <a:r>
              <a:rPr lang="de-DE" sz="2800" b="1" dirty="0" err="1">
                <a:solidFill>
                  <a:schemeClr val="bg1"/>
                </a:solidFill>
              </a:rPr>
              <a:t>define</a:t>
            </a:r>
            <a:r>
              <a:rPr lang="de-DE" sz="2800" b="1" dirty="0">
                <a:solidFill>
                  <a:schemeClr val="bg1"/>
                </a:solidFill>
              </a:rPr>
              <a:t> and </a:t>
            </a:r>
            <a:r>
              <a:rPr lang="de-DE" sz="2800" b="1" dirty="0" err="1">
                <a:solidFill>
                  <a:schemeClr val="bg1"/>
                </a:solidFill>
              </a:rPr>
              <a:t>measure</a:t>
            </a:r>
            <a:r>
              <a:rPr lang="de-DE" sz="2800" b="1" dirty="0">
                <a:solidFill>
                  <a:schemeClr val="bg1"/>
                </a:solidFill>
              </a:rPr>
              <a:t> „</a:t>
            </a:r>
            <a:r>
              <a:rPr lang="de-DE" sz="2800" b="1" dirty="0" err="1">
                <a:solidFill>
                  <a:schemeClr val="bg1"/>
                </a:solidFill>
              </a:rPr>
              <a:t>green</a:t>
            </a:r>
            <a:r>
              <a:rPr lang="de-DE" sz="2800" b="1" dirty="0">
                <a:solidFill>
                  <a:schemeClr val="bg1"/>
                </a:solidFill>
              </a:rPr>
              <a:t>“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FD704F9-F7E5-50D2-1B9A-598B28D24F67}"/>
              </a:ext>
            </a:extLst>
          </p:cNvPr>
          <p:cNvSpPr/>
          <p:nvPr/>
        </p:nvSpPr>
        <p:spPr>
          <a:xfrm>
            <a:off x="361950" y="1685925"/>
            <a:ext cx="3238500" cy="39243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92D050"/>
                </a:solidFill>
              </a:rPr>
              <a:t>Green Space</a:t>
            </a:r>
          </a:p>
          <a:p>
            <a:pPr algn="ctr"/>
            <a:endParaRPr lang="de-DE" sz="2000" dirty="0"/>
          </a:p>
          <a:p>
            <a:pPr algn="ctr"/>
            <a:r>
              <a:rPr lang="de-DE" sz="2000" dirty="0"/>
              <a:t>Share of </a:t>
            </a:r>
            <a:r>
              <a:rPr lang="de-DE" sz="2000" dirty="0" err="1"/>
              <a:t>city</a:t>
            </a:r>
            <a:r>
              <a:rPr lang="de-DE" sz="2000" dirty="0"/>
              <a:t> area </a:t>
            </a:r>
            <a:r>
              <a:rPr lang="de-DE" sz="2000" dirty="0" err="1"/>
              <a:t>classified</a:t>
            </a:r>
            <a:r>
              <a:rPr lang="de-DE" sz="2000" dirty="0"/>
              <a:t> as </a:t>
            </a:r>
            <a:r>
              <a:rPr lang="de-DE" sz="2000" dirty="0" err="1"/>
              <a:t>green</a:t>
            </a:r>
            <a:r>
              <a:rPr lang="de-DE" sz="2000" dirty="0"/>
              <a:t> urban </a:t>
            </a:r>
            <a:r>
              <a:rPr lang="de-DE" sz="2000" dirty="0" err="1"/>
              <a:t>space</a:t>
            </a:r>
            <a:endParaRPr lang="de-DE" sz="2000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05C407E9-6FD2-5D6B-3662-6514D2C37812}"/>
              </a:ext>
            </a:extLst>
          </p:cNvPr>
          <p:cNvSpPr/>
          <p:nvPr/>
        </p:nvSpPr>
        <p:spPr>
          <a:xfrm>
            <a:off x="4476750" y="1685925"/>
            <a:ext cx="3238500" cy="39243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00B050"/>
                </a:solidFill>
              </a:rPr>
              <a:t>Access</a:t>
            </a:r>
          </a:p>
          <a:p>
            <a:pPr algn="ctr"/>
            <a:endParaRPr lang="de-DE" sz="2000" dirty="0"/>
          </a:p>
          <a:p>
            <a:pPr algn="ctr"/>
            <a:r>
              <a:rPr lang="de-DE" sz="2000" dirty="0"/>
              <a:t>How </a:t>
            </a:r>
            <a:r>
              <a:rPr lang="de-DE" sz="2000" dirty="0" err="1"/>
              <a:t>much</a:t>
            </a:r>
            <a:r>
              <a:rPr lang="de-DE" sz="2000" dirty="0"/>
              <a:t> </a:t>
            </a:r>
            <a:r>
              <a:rPr lang="de-DE" sz="2000" dirty="0" err="1"/>
              <a:t>green</a:t>
            </a:r>
            <a:r>
              <a:rPr lang="de-DE" sz="2000" dirty="0"/>
              <a:t> area </a:t>
            </a:r>
            <a:r>
              <a:rPr lang="de-DE" sz="2000" dirty="0" err="1"/>
              <a:t>can</a:t>
            </a:r>
            <a:r>
              <a:rPr lang="de-DE" sz="2000" dirty="0"/>
              <a:t> </a:t>
            </a:r>
            <a:r>
              <a:rPr lang="de-DE" sz="2000" dirty="0" err="1"/>
              <a:t>residents</a:t>
            </a:r>
            <a:r>
              <a:rPr lang="de-DE" sz="2000" dirty="0"/>
              <a:t> </a:t>
            </a:r>
            <a:r>
              <a:rPr lang="de-DE" sz="2000" dirty="0" err="1"/>
              <a:t>reach</a:t>
            </a:r>
            <a:r>
              <a:rPr lang="de-DE" sz="2000" dirty="0"/>
              <a:t> on </a:t>
            </a:r>
            <a:r>
              <a:rPr lang="de-DE" sz="2000" dirty="0" err="1"/>
              <a:t>foot</a:t>
            </a:r>
            <a:endParaRPr lang="de-DE" sz="2000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F4AF04E1-AD7E-5254-DD5B-306EFB98020B}"/>
              </a:ext>
            </a:extLst>
          </p:cNvPr>
          <p:cNvSpPr/>
          <p:nvPr/>
        </p:nvSpPr>
        <p:spPr>
          <a:xfrm>
            <a:off x="8591550" y="1685925"/>
            <a:ext cx="3238500" cy="39243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accent3"/>
                </a:solidFill>
              </a:rPr>
              <a:t>Trees</a:t>
            </a:r>
          </a:p>
          <a:p>
            <a:pPr algn="ctr"/>
            <a:endParaRPr lang="de-DE" sz="2000" dirty="0"/>
          </a:p>
          <a:p>
            <a:pPr algn="ctr"/>
            <a:r>
              <a:rPr lang="de-DE" sz="2000" dirty="0"/>
              <a:t>Urban </a:t>
            </a:r>
            <a:r>
              <a:rPr lang="de-DE" sz="2000" dirty="0" err="1"/>
              <a:t>tree</a:t>
            </a:r>
            <a:r>
              <a:rPr lang="de-DE" sz="2000" dirty="0"/>
              <a:t> </a:t>
            </a:r>
            <a:r>
              <a:rPr lang="de-DE" sz="2000" dirty="0" err="1"/>
              <a:t>cover</a:t>
            </a:r>
            <a:r>
              <a:rPr lang="de-DE" sz="2000" dirty="0"/>
              <a:t> </a:t>
            </a:r>
            <a:r>
              <a:rPr lang="de-DE" sz="2000" dirty="0" err="1"/>
              <a:t>where</a:t>
            </a:r>
            <a:r>
              <a:rPr lang="de-DE" sz="2000" dirty="0"/>
              <a:t> </a:t>
            </a:r>
            <a:r>
              <a:rPr lang="de-DE" sz="2000" dirty="0" err="1"/>
              <a:t>available</a:t>
            </a:r>
            <a:endParaRPr lang="de-DE" sz="20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39A37F4-2705-A9F9-2185-18194AB44A87}"/>
              </a:ext>
            </a:extLst>
          </p:cNvPr>
          <p:cNvSpPr txBox="1"/>
          <p:nvPr/>
        </p:nvSpPr>
        <p:spPr>
          <a:xfrm>
            <a:off x="361950" y="6020455"/>
            <a:ext cx="11468100" cy="707886"/>
          </a:xfrm>
          <a:prstGeom prst="rect">
            <a:avLst/>
          </a:prstGeom>
          <a:gradFill flip="none" rotWithShape="1">
            <a:gsLst>
              <a:gs pos="0">
                <a:srgbClr val="99B9E7">
                  <a:alpha val="61000"/>
                </a:srgbClr>
              </a:gs>
              <a:gs pos="100000">
                <a:srgbClr val="99B9E7">
                  <a:alpha val="10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</a:rPr>
              <a:t>Primary </a:t>
            </a:r>
            <a:r>
              <a:rPr lang="de-DE" sz="2000" b="1" dirty="0" err="1">
                <a:solidFill>
                  <a:schemeClr val="bg1"/>
                </a:solidFill>
              </a:rPr>
              <a:t>measure</a:t>
            </a:r>
            <a:r>
              <a:rPr lang="de-DE" sz="2000" b="1" dirty="0">
                <a:solidFill>
                  <a:schemeClr val="bg1"/>
                </a:solidFill>
              </a:rPr>
              <a:t>: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share</a:t>
            </a:r>
            <a:r>
              <a:rPr lang="de-DE" sz="2000" dirty="0">
                <a:solidFill>
                  <a:schemeClr val="bg1"/>
                </a:solidFill>
              </a:rPr>
              <a:t> of </a:t>
            </a:r>
            <a:r>
              <a:rPr lang="de-DE" sz="2000" dirty="0" err="1">
                <a:solidFill>
                  <a:schemeClr val="bg1"/>
                </a:solidFill>
              </a:rPr>
              <a:t>city</a:t>
            </a:r>
            <a:r>
              <a:rPr lang="de-DE" sz="2000" dirty="0">
                <a:solidFill>
                  <a:schemeClr val="bg1"/>
                </a:solidFill>
              </a:rPr>
              <a:t> area </a:t>
            </a:r>
            <a:r>
              <a:rPr lang="de-DE" sz="2000" dirty="0" err="1">
                <a:solidFill>
                  <a:schemeClr val="bg1"/>
                </a:solidFill>
              </a:rPr>
              <a:t>covered</a:t>
            </a:r>
            <a:r>
              <a:rPr lang="de-DE" sz="2000" dirty="0">
                <a:solidFill>
                  <a:schemeClr val="bg1"/>
                </a:solidFill>
              </a:rPr>
              <a:t> by </a:t>
            </a:r>
            <a:r>
              <a:rPr lang="de-DE" sz="2000" dirty="0" err="1">
                <a:solidFill>
                  <a:schemeClr val="bg1"/>
                </a:solidFill>
              </a:rPr>
              <a:t>green</a:t>
            </a:r>
            <a:r>
              <a:rPr lang="de-DE" sz="2000" dirty="0">
                <a:solidFill>
                  <a:schemeClr val="bg1"/>
                </a:solidFill>
              </a:rPr>
              <a:t> urban </a:t>
            </a:r>
            <a:r>
              <a:rPr lang="de-DE" sz="2000" dirty="0" err="1">
                <a:solidFill>
                  <a:schemeClr val="bg1"/>
                </a:solidFill>
              </a:rPr>
              <a:t>space</a:t>
            </a:r>
            <a:br>
              <a:rPr lang="de-DE" sz="2000" dirty="0">
                <a:solidFill>
                  <a:schemeClr val="bg1"/>
                </a:solidFill>
              </a:rPr>
            </a:br>
            <a:r>
              <a:rPr lang="de-DE" sz="2000" i="1" dirty="0">
                <a:solidFill>
                  <a:schemeClr val="bg1"/>
                </a:solidFill>
              </a:rPr>
              <a:t>Access and </a:t>
            </a:r>
            <a:r>
              <a:rPr lang="de-DE" sz="2000" i="1" dirty="0" err="1">
                <a:solidFill>
                  <a:schemeClr val="bg1"/>
                </a:solidFill>
              </a:rPr>
              <a:t>tree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cover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provide</a:t>
            </a:r>
            <a:r>
              <a:rPr lang="de-DE" sz="2000" i="1" dirty="0">
                <a:solidFill>
                  <a:schemeClr val="bg1"/>
                </a:solidFill>
              </a:rPr>
              <a:t> additional </a:t>
            </a:r>
            <a:r>
              <a:rPr lang="de-DE" sz="2000" i="1" dirty="0" err="1">
                <a:solidFill>
                  <a:schemeClr val="bg1"/>
                </a:solidFill>
              </a:rPr>
              <a:t>context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where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data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is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available</a:t>
            </a:r>
            <a:r>
              <a:rPr lang="de-DE" sz="2000" i="1" dirty="0">
                <a:solidFill>
                  <a:schemeClr val="bg1"/>
                </a:solidFill>
              </a:rPr>
              <a:t>.</a:t>
            </a:r>
            <a:endParaRPr lang="de-D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69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E66D316-2FF2-E4FD-A748-664A442300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02450"/>
          </a:xfrm>
          <a:prstGeom prst="rect">
            <a:avLst/>
          </a:prstGeom>
          <a:gradFill flip="none" rotWithShape="1">
            <a:gsLst>
              <a:gs pos="43000">
                <a:srgbClr val="77A1C7">
                  <a:tint val="66000"/>
                  <a:satMod val="160000"/>
                </a:srgbClr>
              </a:gs>
              <a:gs pos="100000">
                <a:srgbClr val="77A1C7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004B3F0-118D-6037-89E6-88B8997F7B40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How to </a:t>
            </a:r>
            <a:r>
              <a:rPr lang="de-DE" sz="2800" b="1" dirty="0" err="1">
                <a:solidFill>
                  <a:schemeClr val="bg1"/>
                </a:solidFill>
              </a:rPr>
              <a:t>measure</a:t>
            </a:r>
            <a:r>
              <a:rPr lang="de-DE" sz="2800" b="1" dirty="0">
                <a:solidFill>
                  <a:schemeClr val="bg1"/>
                </a:solidFill>
              </a:rPr>
              <a:t> „</a:t>
            </a:r>
            <a:r>
              <a:rPr lang="de-DE" sz="2800" b="1" dirty="0" err="1">
                <a:solidFill>
                  <a:schemeClr val="bg1"/>
                </a:solidFill>
              </a:rPr>
              <a:t>happiness</a:t>
            </a:r>
            <a:r>
              <a:rPr lang="de-DE" sz="2800" b="1" dirty="0">
                <a:solidFill>
                  <a:schemeClr val="bg1"/>
                </a:solidFill>
              </a:rPr>
              <a:t>“?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C60303F-7440-8DBF-0194-0AA983DC3F15}"/>
              </a:ext>
            </a:extLst>
          </p:cNvPr>
          <p:cNvSpPr/>
          <p:nvPr/>
        </p:nvSpPr>
        <p:spPr>
          <a:xfrm>
            <a:off x="5564341" y="1666873"/>
            <a:ext cx="6067425" cy="208597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</a:rPr>
              <a:t>Residents‘ </a:t>
            </a:r>
            <a:r>
              <a:rPr lang="de-DE" sz="2000" b="1" dirty="0" err="1">
                <a:solidFill>
                  <a:schemeClr val="tx1"/>
                </a:solidFill>
              </a:rPr>
              <a:t>reported</a:t>
            </a:r>
            <a:r>
              <a:rPr lang="de-DE" sz="2000" b="1" dirty="0">
                <a:solidFill>
                  <a:schemeClr val="tx1"/>
                </a:solidFill>
              </a:rPr>
              <a:t> </a:t>
            </a:r>
            <a:r>
              <a:rPr lang="de-DE" sz="2000" b="1" dirty="0" err="1">
                <a:solidFill>
                  <a:schemeClr val="tx1"/>
                </a:solidFill>
              </a:rPr>
              <a:t>life</a:t>
            </a:r>
            <a:r>
              <a:rPr lang="de-DE" sz="2000" b="1" dirty="0">
                <a:solidFill>
                  <a:schemeClr val="tx1"/>
                </a:solidFill>
              </a:rPr>
              <a:t> </a:t>
            </a:r>
            <a:r>
              <a:rPr lang="de-DE" sz="2000" b="1" dirty="0" err="1">
                <a:solidFill>
                  <a:schemeClr val="tx1"/>
                </a:solidFill>
              </a:rPr>
              <a:t>satisfaction</a:t>
            </a:r>
            <a:endParaRPr lang="de-DE" sz="2000" b="1" dirty="0">
              <a:solidFill>
                <a:schemeClr val="tx1"/>
              </a:solidFill>
            </a:endParaRPr>
          </a:p>
          <a:p>
            <a:pPr algn="ctr"/>
            <a:endParaRPr lang="de-DE" sz="2000" b="1" dirty="0">
              <a:solidFill>
                <a:schemeClr val="tx1"/>
              </a:solidFill>
            </a:endParaRPr>
          </a:p>
          <a:p>
            <a:pPr algn="ctr"/>
            <a:r>
              <a:rPr lang="de-DE" sz="2000" b="1" dirty="0" err="1">
                <a:solidFill>
                  <a:schemeClr val="tx1"/>
                </a:solidFill>
              </a:rPr>
              <a:t>Using</a:t>
            </a:r>
            <a:r>
              <a:rPr lang="de-DE" sz="2000" b="1" dirty="0">
                <a:solidFill>
                  <a:schemeClr val="tx1"/>
                </a:solidFill>
              </a:rPr>
              <a:t> for </a:t>
            </a:r>
            <a:r>
              <a:rPr lang="de-DE" sz="2000" b="1" dirty="0" err="1">
                <a:solidFill>
                  <a:schemeClr val="tx1"/>
                </a:solidFill>
              </a:rPr>
              <a:t>example</a:t>
            </a:r>
            <a:r>
              <a:rPr lang="de-DE" sz="2000" b="1" dirty="0">
                <a:solidFill>
                  <a:schemeClr val="tx1"/>
                </a:solidFill>
              </a:rPr>
              <a:t> the </a:t>
            </a:r>
            <a:r>
              <a:rPr lang="en-US" sz="2000" b="1" dirty="0">
                <a:solidFill>
                  <a:schemeClr val="tx1"/>
                </a:solidFill>
                <a:hlinkClick r:id="rId2"/>
              </a:rPr>
              <a:t>EU Quality of Life Survey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F330A549-ADEA-F496-E572-0477DDEB80F9}"/>
              </a:ext>
            </a:extLst>
          </p:cNvPr>
          <p:cNvSpPr txBox="1">
            <a:spLocks/>
          </p:cNvSpPr>
          <p:nvPr/>
        </p:nvSpPr>
        <p:spPr>
          <a:xfrm>
            <a:off x="2770607" y="1865452"/>
            <a:ext cx="4242702" cy="168881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b="1" dirty="0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849E5134-17B8-68BA-176C-28A32385AA67}"/>
              </a:ext>
            </a:extLst>
          </p:cNvPr>
          <p:cNvSpPr/>
          <p:nvPr/>
        </p:nvSpPr>
        <p:spPr>
          <a:xfrm>
            <a:off x="5564342" y="3951428"/>
            <a:ext cx="2979583" cy="157097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Better </a:t>
            </a:r>
            <a:r>
              <a:rPr lang="de-DE" sz="2000" dirty="0" err="1">
                <a:solidFill>
                  <a:schemeClr val="tx1"/>
                </a:solidFill>
              </a:rPr>
              <a:t>access</a:t>
            </a:r>
            <a:r>
              <a:rPr lang="de-DE" sz="2000" dirty="0">
                <a:solidFill>
                  <a:schemeClr val="tx1"/>
                </a:solidFill>
              </a:rPr>
              <a:t> to </a:t>
            </a:r>
            <a:r>
              <a:rPr lang="de-DE" sz="2000" dirty="0" err="1">
                <a:solidFill>
                  <a:schemeClr val="tx1"/>
                </a:solidFill>
              </a:rPr>
              <a:t>green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spaces</a:t>
            </a:r>
            <a:endParaRPr lang="de-DE" sz="2000" dirty="0">
              <a:solidFill>
                <a:schemeClr val="tx1"/>
              </a:solidFill>
            </a:endParaRP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=</a:t>
            </a:r>
          </a:p>
          <a:p>
            <a:pPr algn="ctr"/>
            <a:r>
              <a:rPr lang="de-DE" sz="2000" dirty="0" err="1">
                <a:solidFill>
                  <a:schemeClr val="tx1"/>
                </a:solidFill>
              </a:rPr>
              <a:t>Greater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statisfaction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850A5F1-0B8C-B26D-88C2-AA50245D6ECB}"/>
              </a:ext>
            </a:extLst>
          </p:cNvPr>
          <p:cNvSpPr/>
          <p:nvPr/>
        </p:nvSpPr>
        <p:spPr>
          <a:xfrm>
            <a:off x="8652183" y="3951427"/>
            <a:ext cx="2979583" cy="157097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Wellbeing </a:t>
            </a: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&amp; </a:t>
            </a:r>
          </a:p>
          <a:p>
            <a:pPr algn="ctr"/>
            <a:r>
              <a:rPr lang="de-DE" sz="2000" dirty="0" err="1">
                <a:solidFill>
                  <a:schemeClr val="tx1"/>
                </a:solidFill>
              </a:rPr>
              <a:t>Healthy</a:t>
            </a:r>
            <a:r>
              <a:rPr lang="de-DE" sz="2000" dirty="0">
                <a:solidFill>
                  <a:schemeClr val="tx1"/>
                </a:solidFill>
              </a:rPr>
              <a:t> Cities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D3E1D6C-D4D5-3529-D6A5-3A1E2C0FF14D}"/>
              </a:ext>
            </a:extLst>
          </p:cNvPr>
          <p:cNvSpPr txBox="1"/>
          <p:nvPr/>
        </p:nvSpPr>
        <p:spPr>
          <a:xfrm>
            <a:off x="652462" y="2109695"/>
            <a:ext cx="3743325" cy="1200329"/>
          </a:xfrm>
          <a:prstGeom prst="rect">
            <a:avLst/>
          </a:prstGeom>
          <a:gradFill flip="none" rotWithShape="1">
            <a:gsLst>
              <a:gs pos="0">
                <a:srgbClr val="99B9E7">
                  <a:alpha val="61000"/>
                </a:srgbClr>
              </a:gs>
              <a:gs pos="100000">
                <a:srgbClr val="99B9E7">
                  <a:alpha val="10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solidFill>
                  <a:srgbClr val="FFFFFF"/>
                </a:solidFill>
              </a:rPr>
              <a:t>Life</a:t>
            </a:r>
            <a:br>
              <a:rPr lang="de-DE" sz="3600" b="1" dirty="0">
                <a:solidFill>
                  <a:srgbClr val="FFFFFF"/>
                </a:solidFill>
              </a:rPr>
            </a:br>
            <a:r>
              <a:rPr lang="de-DE" sz="3600" b="1" dirty="0" err="1">
                <a:solidFill>
                  <a:srgbClr val="FFFFFF"/>
                </a:solidFill>
              </a:rPr>
              <a:t>Satisfaction</a:t>
            </a:r>
            <a:endParaRPr lang="de-DE" sz="3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3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E444D5E3-417C-8580-5058-2562A13FA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FAAC5">
                  <a:tint val="66000"/>
                  <a:satMod val="160000"/>
                </a:srgbClr>
              </a:gs>
              <a:gs pos="50000">
                <a:srgbClr val="8FAAC5">
                  <a:tint val="44500"/>
                  <a:satMod val="160000"/>
                </a:srgbClr>
              </a:gs>
              <a:gs pos="100000">
                <a:srgbClr val="8FAAC5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6A4456-F3A9-C4A8-BC78-AAE95B3744F7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 err="1">
                <a:solidFill>
                  <a:schemeClr val="bg1"/>
                </a:solidFill>
              </a:rPr>
              <a:t>Where</a:t>
            </a:r>
            <a:r>
              <a:rPr lang="de-DE" sz="2800" b="1" dirty="0">
                <a:solidFill>
                  <a:schemeClr val="bg1"/>
                </a:solidFill>
              </a:rPr>
              <a:t> the </a:t>
            </a:r>
            <a:r>
              <a:rPr lang="de-DE" sz="2800" b="1" dirty="0" err="1">
                <a:solidFill>
                  <a:schemeClr val="bg1"/>
                </a:solidFill>
              </a:rPr>
              <a:t>data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comes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from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83DE6DC-29D0-D029-8645-6E48D1016865}"/>
              </a:ext>
            </a:extLst>
          </p:cNvPr>
          <p:cNvSpPr/>
          <p:nvPr/>
        </p:nvSpPr>
        <p:spPr>
          <a:xfrm>
            <a:off x="652462" y="1476371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hlinkClick r:id="rId2"/>
              </a:rPr>
              <a:t>Quality of Life in European Cities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C9D1ABBA-1403-C6A0-0D24-069D9874D6A8}"/>
              </a:ext>
            </a:extLst>
          </p:cNvPr>
          <p:cNvSpPr/>
          <p:nvPr/>
        </p:nvSpPr>
        <p:spPr>
          <a:xfrm>
            <a:off x="652462" y="2562876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hlinkClick r:id="rId3"/>
              </a:rPr>
              <a:t>Urban Atlas 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D92B460-F417-526D-404A-D04F8E457774}"/>
              </a:ext>
            </a:extLst>
          </p:cNvPr>
          <p:cNvSpPr/>
          <p:nvPr/>
        </p:nvSpPr>
        <p:spPr>
          <a:xfrm>
            <a:off x="652462" y="3649381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hlinkClick r:id="rId4"/>
              </a:rPr>
              <a:t>European </a:t>
            </a:r>
            <a:r>
              <a:rPr lang="de-DE" sz="2000" dirty="0" err="1">
                <a:solidFill>
                  <a:schemeClr val="tx1"/>
                </a:solidFill>
                <a:hlinkClick r:id="rId4"/>
              </a:rPr>
              <a:t>city</a:t>
            </a:r>
            <a:r>
              <a:rPr lang="de-DE" sz="2000" dirty="0">
                <a:solidFill>
                  <a:schemeClr val="tx1"/>
                </a:solidFill>
                <a:hlinkClick r:id="rId4"/>
              </a:rPr>
              <a:t> </a:t>
            </a:r>
            <a:r>
              <a:rPr lang="de-DE" sz="2000" dirty="0" err="1">
                <a:solidFill>
                  <a:schemeClr val="tx1"/>
                </a:solidFill>
                <a:hlinkClick r:id="rId4"/>
              </a:rPr>
              <a:t>air</a:t>
            </a:r>
            <a:r>
              <a:rPr lang="de-DE" sz="2000" dirty="0">
                <a:solidFill>
                  <a:schemeClr val="tx1"/>
                </a:solidFill>
                <a:hlinkClick r:id="rId4"/>
              </a:rPr>
              <a:t> </a:t>
            </a:r>
            <a:r>
              <a:rPr lang="de-DE" sz="2000" dirty="0" err="1">
                <a:solidFill>
                  <a:schemeClr val="tx1"/>
                </a:solidFill>
                <a:hlinkClick r:id="rId4"/>
              </a:rPr>
              <a:t>quality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520E311A-47D0-07E9-94E7-F7F82ACE3101}"/>
              </a:ext>
            </a:extLst>
          </p:cNvPr>
          <p:cNvSpPr/>
          <p:nvPr/>
        </p:nvSpPr>
        <p:spPr>
          <a:xfrm>
            <a:off x="652462" y="4735886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hlinkClick r:id="rId5"/>
              </a:rPr>
              <a:t>City </a:t>
            </a:r>
            <a:r>
              <a:rPr lang="de-DE" sz="2000" dirty="0" err="1">
                <a:solidFill>
                  <a:schemeClr val="tx1"/>
                </a:solidFill>
                <a:hlinkClick r:id="rId5"/>
              </a:rPr>
              <a:t>statistics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F943D89-945D-D2C8-F386-21A997984B19}"/>
              </a:ext>
            </a:extLst>
          </p:cNvPr>
          <p:cNvSpPr/>
          <p:nvPr/>
        </p:nvSpPr>
        <p:spPr>
          <a:xfrm>
            <a:off x="955983" y="1756636"/>
            <a:ext cx="3101667" cy="325298"/>
          </a:xfrm>
          <a:prstGeom prst="roundRect">
            <a:avLst/>
          </a:prstGeom>
          <a:solidFill>
            <a:srgbClr val="AB81F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European </a:t>
            </a:r>
            <a:r>
              <a:rPr lang="de-DE" sz="2000" dirty="0" err="1">
                <a:solidFill>
                  <a:schemeClr val="tx1"/>
                </a:solidFill>
              </a:rPr>
              <a:t>Comission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8AED4E23-2864-903A-178F-EEE3AF5BB387}"/>
              </a:ext>
            </a:extLst>
          </p:cNvPr>
          <p:cNvSpPr/>
          <p:nvPr/>
        </p:nvSpPr>
        <p:spPr>
          <a:xfrm>
            <a:off x="955982" y="2843141"/>
            <a:ext cx="3101667" cy="32529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EEA / Copernicus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B133CC92-E9F1-5B6D-33F7-78FB27A6A54D}"/>
              </a:ext>
            </a:extLst>
          </p:cNvPr>
          <p:cNvSpPr/>
          <p:nvPr/>
        </p:nvSpPr>
        <p:spPr>
          <a:xfrm>
            <a:off x="955981" y="3929646"/>
            <a:ext cx="3101667" cy="32529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EEA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74DD9A88-137C-0D3F-A9D2-82012534A68A}"/>
              </a:ext>
            </a:extLst>
          </p:cNvPr>
          <p:cNvSpPr/>
          <p:nvPr/>
        </p:nvSpPr>
        <p:spPr>
          <a:xfrm>
            <a:off x="955980" y="5016151"/>
            <a:ext cx="3101667" cy="325298"/>
          </a:xfrm>
          <a:prstGeom prst="roundRect">
            <a:avLst/>
          </a:prstGeom>
          <a:solidFill>
            <a:srgbClr val="FFCC66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Eurostat</a:t>
            </a:r>
          </a:p>
        </p:txBody>
      </p:sp>
    </p:spTree>
    <p:extLst>
      <p:ext uri="{BB962C8B-B14F-4D97-AF65-F5344CB8AC3E}">
        <p14:creationId xmlns:p14="http://schemas.microsoft.com/office/powerpoint/2010/main" val="3753212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0583-D966-1B01-928B-7127AD40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95D722F-654E-3088-31FC-D9A958CF9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02450"/>
          </a:xfrm>
          <a:prstGeom prst="rect">
            <a:avLst/>
          </a:prstGeom>
          <a:gradFill flip="none" rotWithShape="1">
            <a:gsLst>
              <a:gs pos="0">
                <a:srgbClr val="77A1C7">
                  <a:tint val="44500"/>
                  <a:satMod val="160000"/>
                </a:srgbClr>
              </a:gs>
              <a:gs pos="100000">
                <a:srgbClr val="D5E3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33663A8-4AA2-80FE-467F-5983F0DAE741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Data Journey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BEF5EBF-C0C3-09D8-CEF5-417C7633F5FF}"/>
              </a:ext>
            </a:extLst>
          </p:cNvPr>
          <p:cNvSpPr/>
          <p:nvPr/>
        </p:nvSpPr>
        <p:spPr>
          <a:xfrm>
            <a:off x="1189909" y="1479551"/>
            <a:ext cx="4395632" cy="4114799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Survey Data</a:t>
            </a: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4DD7925-17D4-17D5-8571-AB0D52A67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53" y="1919224"/>
            <a:ext cx="4202915" cy="3235451"/>
          </a:xfrm>
          <a:prstGeom prst="rect">
            <a:avLst/>
          </a:prstGeom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02B1900A-DB0F-8E77-E0C9-491E5EB48F0F}"/>
              </a:ext>
            </a:extLst>
          </p:cNvPr>
          <p:cNvSpPr/>
          <p:nvPr/>
        </p:nvSpPr>
        <p:spPr>
          <a:xfrm>
            <a:off x="6606459" y="1479551"/>
            <a:ext cx="4395632" cy="4114799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Green Space Coverage</a:t>
            </a: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489FB465-9A3D-B9E4-49C4-EEA75D42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682" y="1919224"/>
            <a:ext cx="3881186" cy="1536883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B76D6900-531F-668C-7FE6-A7435C823B29}"/>
              </a:ext>
            </a:extLst>
          </p:cNvPr>
          <p:cNvSpPr txBox="1"/>
          <p:nvPr/>
        </p:nvSpPr>
        <p:spPr>
          <a:xfrm>
            <a:off x="361950" y="6020455"/>
            <a:ext cx="11468100" cy="707886"/>
          </a:xfrm>
          <a:prstGeom prst="rect">
            <a:avLst/>
          </a:prstGeom>
          <a:gradFill flip="none" rotWithShape="1">
            <a:gsLst>
              <a:gs pos="0">
                <a:srgbClr val="99B9E7">
                  <a:alpha val="61000"/>
                </a:srgbClr>
              </a:gs>
              <a:gs pos="100000">
                <a:srgbClr val="99B9E7">
                  <a:alpha val="10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</a:rPr>
              <a:t>Adjustments: </a:t>
            </a:r>
            <a:r>
              <a:rPr lang="de-DE" sz="2000" dirty="0" err="1">
                <a:solidFill>
                  <a:schemeClr val="bg1"/>
                </a:solidFill>
              </a:rPr>
              <a:t>Column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names</a:t>
            </a:r>
            <a:r>
              <a:rPr lang="de-DE" sz="2000" dirty="0">
                <a:solidFill>
                  <a:schemeClr val="bg1"/>
                </a:solidFill>
              </a:rPr>
              <a:t>, </a:t>
            </a:r>
            <a:r>
              <a:rPr lang="de-DE" sz="2000" dirty="0" err="1">
                <a:solidFill>
                  <a:schemeClr val="bg1"/>
                </a:solidFill>
              </a:rPr>
              <a:t>dropping</a:t>
            </a:r>
            <a:r>
              <a:rPr lang="de-DE" sz="2000" dirty="0">
                <a:solidFill>
                  <a:schemeClr val="bg1"/>
                </a:solidFill>
              </a:rPr>
              <a:t> unrelevant &amp; not </a:t>
            </a:r>
            <a:r>
              <a:rPr lang="de-DE" sz="2000" dirty="0" err="1">
                <a:solidFill>
                  <a:schemeClr val="bg1"/>
                </a:solidFill>
              </a:rPr>
              <a:t>needed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columns</a:t>
            </a:r>
            <a:r>
              <a:rPr lang="de-DE" sz="2000" dirty="0">
                <a:solidFill>
                  <a:schemeClr val="bg1"/>
                </a:solidFill>
              </a:rPr>
              <a:t>, </a:t>
            </a:r>
            <a:r>
              <a:rPr lang="de-DE" sz="2000" dirty="0" err="1">
                <a:solidFill>
                  <a:schemeClr val="bg1"/>
                </a:solidFill>
              </a:rPr>
              <a:t>data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types</a:t>
            </a:r>
            <a:r>
              <a:rPr lang="de-DE" sz="2000" dirty="0">
                <a:solidFill>
                  <a:schemeClr val="bg1"/>
                </a:solidFill>
              </a:rPr>
              <a:t>, </a:t>
            </a:r>
            <a:r>
              <a:rPr lang="de-DE" sz="2000" dirty="0" err="1">
                <a:solidFill>
                  <a:schemeClr val="bg1"/>
                </a:solidFill>
              </a:rPr>
              <a:t>fixing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city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names</a:t>
            </a:r>
            <a:r>
              <a:rPr lang="de-DE" sz="2000" dirty="0">
                <a:solidFill>
                  <a:schemeClr val="bg1"/>
                </a:solidFill>
              </a:rPr>
              <a:t>, </a:t>
            </a:r>
            <a:r>
              <a:rPr lang="de-DE" sz="2000" dirty="0" err="1">
                <a:solidFill>
                  <a:schemeClr val="bg1"/>
                </a:solidFill>
              </a:rPr>
              <a:t>adding</a:t>
            </a:r>
            <a:r>
              <a:rPr lang="de-DE" sz="2000" dirty="0">
                <a:solidFill>
                  <a:schemeClr val="bg1"/>
                </a:solidFill>
              </a:rPr>
              <a:t> countries, </a:t>
            </a:r>
            <a:r>
              <a:rPr lang="de-DE" sz="2000" dirty="0" err="1">
                <a:solidFill>
                  <a:schemeClr val="bg1"/>
                </a:solidFill>
              </a:rPr>
              <a:t>keeping</a:t>
            </a:r>
            <a:r>
              <a:rPr lang="de-DE" sz="2000" dirty="0">
                <a:solidFill>
                  <a:schemeClr val="bg1"/>
                </a:solidFill>
              </a:rPr>
              <a:t> the </a:t>
            </a:r>
            <a:r>
              <a:rPr lang="de-DE" sz="2000" dirty="0" err="1">
                <a:solidFill>
                  <a:schemeClr val="bg1"/>
                </a:solidFill>
              </a:rPr>
              <a:t>data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within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shortest</a:t>
            </a:r>
            <a:r>
              <a:rPr lang="de-DE" sz="2000" dirty="0">
                <a:solidFill>
                  <a:schemeClr val="bg1"/>
                </a:solidFill>
              </a:rPr>
              <a:t> time span, </a:t>
            </a:r>
            <a:r>
              <a:rPr lang="de-DE" sz="2000" dirty="0" err="1">
                <a:solidFill>
                  <a:schemeClr val="bg1"/>
                </a:solidFill>
              </a:rPr>
              <a:t>seperating</a:t>
            </a:r>
            <a:r>
              <a:rPr lang="de-DE" sz="2000" dirty="0">
                <a:solidFill>
                  <a:schemeClr val="bg1"/>
                </a:solidFill>
              </a:rPr>
              <a:t> relevant </a:t>
            </a:r>
            <a:r>
              <a:rPr lang="de-DE" sz="2000" dirty="0" err="1">
                <a:solidFill>
                  <a:schemeClr val="bg1"/>
                </a:solidFill>
              </a:rPr>
              <a:t>surveys</a:t>
            </a:r>
            <a:endParaRPr lang="de-D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57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E005-F7CF-08C0-970C-02DFC5E0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E231A85-3CAC-EE3E-F995-CD50C3BDC2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02450"/>
          </a:xfrm>
          <a:prstGeom prst="rect">
            <a:avLst/>
          </a:prstGeom>
          <a:gradFill flip="none" rotWithShape="1">
            <a:gsLst>
              <a:gs pos="0">
                <a:srgbClr val="77A1C7">
                  <a:tint val="44500"/>
                  <a:satMod val="160000"/>
                </a:srgbClr>
              </a:gs>
              <a:gs pos="100000">
                <a:srgbClr val="D5E3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9F01767-CDEF-8F0D-3BB0-DA239749209F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Additional Surveys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36D1ED5-4D94-344A-9EAC-22520332BA70}"/>
              </a:ext>
            </a:extLst>
          </p:cNvPr>
          <p:cNvSpPr/>
          <p:nvPr/>
        </p:nvSpPr>
        <p:spPr>
          <a:xfrm>
            <a:off x="1393109" y="2507924"/>
            <a:ext cx="4395632" cy="1054099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chemeClr val="tx1"/>
                </a:solidFill>
              </a:rPr>
              <a:t>Satisfied</a:t>
            </a:r>
            <a:r>
              <a:rPr lang="de-DE" sz="2000" dirty="0">
                <a:solidFill>
                  <a:schemeClr val="tx1"/>
                </a:solidFill>
              </a:rPr>
              <a:t> to live in </a:t>
            </a:r>
            <a:r>
              <a:rPr lang="de-DE" sz="2000" dirty="0" err="1">
                <a:solidFill>
                  <a:schemeClr val="tx1"/>
                </a:solidFill>
              </a:rPr>
              <a:t>this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city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184CBA3-695E-47ED-9B63-9B078B9218C9}"/>
              </a:ext>
            </a:extLst>
          </p:cNvPr>
          <p:cNvSpPr/>
          <p:nvPr/>
        </p:nvSpPr>
        <p:spPr>
          <a:xfrm>
            <a:off x="6403259" y="2507923"/>
            <a:ext cx="4395632" cy="1054099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chemeClr val="tx1"/>
                </a:solidFill>
              </a:rPr>
              <a:t>Satisfied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with</a:t>
            </a:r>
            <a:r>
              <a:rPr lang="de-DE" sz="2000" dirty="0">
                <a:solidFill>
                  <a:schemeClr val="tx1"/>
                </a:solidFill>
              </a:rPr>
              <a:t> the </a:t>
            </a:r>
            <a:r>
              <a:rPr lang="de-DE" sz="2000" dirty="0" err="1">
                <a:solidFill>
                  <a:schemeClr val="tx1"/>
                </a:solidFill>
              </a:rPr>
              <a:t>green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spaces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1E56F80B-48A7-6E6F-9061-10A340705C1B}"/>
              </a:ext>
            </a:extLst>
          </p:cNvPr>
          <p:cNvSpPr/>
          <p:nvPr/>
        </p:nvSpPr>
        <p:spPr>
          <a:xfrm>
            <a:off x="1393109" y="4031924"/>
            <a:ext cx="4395632" cy="1054099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chemeClr val="tx1"/>
                </a:solidFill>
              </a:rPr>
              <a:t>If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it‘s</a:t>
            </a:r>
            <a:r>
              <a:rPr lang="de-DE" sz="2000" dirty="0">
                <a:solidFill>
                  <a:schemeClr val="tx1"/>
                </a:solidFill>
              </a:rPr>
              <a:t> a </a:t>
            </a:r>
            <a:r>
              <a:rPr lang="de-DE" sz="2000" dirty="0" err="1">
                <a:solidFill>
                  <a:schemeClr val="tx1"/>
                </a:solidFill>
              </a:rPr>
              <a:t>healthy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city</a:t>
            </a:r>
            <a:r>
              <a:rPr lang="de-DE" sz="2000" dirty="0">
                <a:solidFill>
                  <a:schemeClr val="tx1"/>
                </a:solidFill>
              </a:rPr>
              <a:t> to live in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7619BBE8-F215-97A6-F626-2FEA0235CDDD}"/>
              </a:ext>
            </a:extLst>
          </p:cNvPr>
          <p:cNvSpPr/>
          <p:nvPr/>
        </p:nvSpPr>
        <p:spPr>
          <a:xfrm>
            <a:off x="6403259" y="4031923"/>
            <a:ext cx="4395632" cy="1054099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chemeClr val="tx1"/>
                </a:solidFill>
              </a:rPr>
              <a:t>Satisfied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with</a:t>
            </a:r>
            <a:r>
              <a:rPr lang="de-DE" sz="2000" dirty="0">
                <a:solidFill>
                  <a:schemeClr val="tx1"/>
                </a:solidFill>
              </a:rPr>
              <a:t> the </a:t>
            </a:r>
            <a:r>
              <a:rPr lang="de-DE" sz="2000" dirty="0" err="1">
                <a:solidFill>
                  <a:schemeClr val="tx1"/>
                </a:solidFill>
              </a:rPr>
              <a:t>air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quality</a:t>
            </a:r>
            <a:endParaRPr lang="de-DE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54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299CD-13BC-F6B7-6347-24F1E4F9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496D0F1-5838-844D-E072-CB31760A35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02450"/>
          </a:xfrm>
          <a:prstGeom prst="rect">
            <a:avLst/>
          </a:prstGeom>
          <a:gradFill flip="none" rotWithShape="1">
            <a:gsLst>
              <a:gs pos="0">
                <a:srgbClr val="77A1C7">
                  <a:tint val="44500"/>
                  <a:satMod val="160000"/>
                </a:srgbClr>
              </a:gs>
              <a:gs pos="100000">
                <a:srgbClr val="D5E3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D76715E-3525-73BF-A58C-CF870DE6B423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 err="1">
                <a:solidFill>
                  <a:schemeClr val="bg1"/>
                </a:solidFill>
              </a:rPr>
              <a:t>Creating</a:t>
            </a:r>
            <a:r>
              <a:rPr lang="de-DE" sz="2800" b="1" dirty="0">
                <a:solidFill>
                  <a:schemeClr val="bg1"/>
                </a:solidFill>
              </a:rPr>
              <a:t> a </a:t>
            </a:r>
            <a:r>
              <a:rPr lang="de-DE" sz="2800" b="1" dirty="0" err="1">
                <a:solidFill>
                  <a:schemeClr val="bg1"/>
                </a:solidFill>
              </a:rPr>
              <a:t>master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sheet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674363F-E18E-4435-4605-5C22A08B4530}"/>
              </a:ext>
            </a:extLst>
          </p:cNvPr>
          <p:cNvSpPr/>
          <p:nvPr/>
        </p:nvSpPr>
        <p:spPr>
          <a:xfrm>
            <a:off x="2247900" y="2320926"/>
            <a:ext cx="7696200" cy="4286249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82C05B0-8F22-A47C-CD9C-10029C87FA4E}"/>
              </a:ext>
            </a:extLst>
          </p:cNvPr>
          <p:cNvSpPr txBox="1"/>
          <p:nvPr/>
        </p:nvSpPr>
        <p:spPr>
          <a:xfrm>
            <a:off x="527050" y="1393965"/>
            <a:ext cx="11468100" cy="400110"/>
          </a:xfrm>
          <a:prstGeom prst="rect">
            <a:avLst/>
          </a:prstGeom>
          <a:gradFill flip="none" rotWithShape="1">
            <a:gsLst>
              <a:gs pos="0">
                <a:srgbClr val="99B9E7">
                  <a:alpha val="61000"/>
                </a:srgbClr>
              </a:gs>
              <a:gs pos="100000">
                <a:srgbClr val="99B9E7">
                  <a:alpha val="10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de-DE" sz="2000" dirty="0" err="1">
                <a:solidFill>
                  <a:schemeClr val="bg1"/>
                </a:solidFill>
              </a:rPr>
              <a:t>Matching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cities</a:t>
            </a:r>
            <a:r>
              <a:rPr lang="de-DE" sz="2000" dirty="0">
                <a:solidFill>
                  <a:schemeClr val="bg1"/>
                </a:solidFill>
              </a:rPr>
              <a:t>, countries, </a:t>
            </a:r>
            <a:r>
              <a:rPr lang="de-DE" sz="2000" dirty="0" err="1">
                <a:solidFill>
                  <a:schemeClr val="bg1"/>
                </a:solidFill>
              </a:rPr>
              <a:t>satisfaction</a:t>
            </a:r>
            <a:r>
              <a:rPr lang="de-DE" sz="2000" dirty="0">
                <a:solidFill>
                  <a:schemeClr val="bg1"/>
                </a:solidFill>
              </a:rPr>
              <a:t> to live in </a:t>
            </a:r>
            <a:r>
              <a:rPr lang="de-DE" sz="2000" dirty="0" err="1">
                <a:solidFill>
                  <a:schemeClr val="bg1"/>
                </a:solidFill>
              </a:rPr>
              <a:t>city</a:t>
            </a:r>
            <a:r>
              <a:rPr lang="de-DE" sz="2000" dirty="0">
                <a:solidFill>
                  <a:schemeClr val="bg1"/>
                </a:solidFill>
              </a:rPr>
              <a:t> and </a:t>
            </a:r>
            <a:r>
              <a:rPr lang="de-DE" sz="2000" dirty="0" err="1">
                <a:solidFill>
                  <a:schemeClr val="bg1"/>
                </a:solidFill>
              </a:rPr>
              <a:t>with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green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spaces</a:t>
            </a:r>
            <a:r>
              <a:rPr lang="de-DE" sz="2000" dirty="0">
                <a:solidFill>
                  <a:schemeClr val="bg1"/>
                </a:solidFill>
              </a:rPr>
              <a:t>, </a:t>
            </a:r>
            <a:r>
              <a:rPr lang="de-DE" sz="2000" dirty="0" err="1">
                <a:solidFill>
                  <a:schemeClr val="bg1"/>
                </a:solidFill>
              </a:rPr>
              <a:t>green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space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coverage</a:t>
            </a:r>
            <a:endParaRPr lang="de-DE" sz="200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F71CAC-1972-28D9-E935-951B2246E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298" y="2465419"/>
            <a:ext cx="6521403" cy="399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4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3E6C-2C21-E577-FD05-E159F936E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3C3098E-4082-9227-C221-288D14BD00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02450"/>
          </a:xfrm>
          <a:prstGeom prst="rect">
            <a:avLst/>
          </a:prstGeom>
          <a:gradFill flip="none" rotWithShape="1">
            <a:gsLst>
              <a:gs pos="0">
                <a:srgbClr val="D5E3F3"/>
              </a:gs>
              <a:gs pos="100000">
                <a:srgbClr val="DBE7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737970B-3BE2-B400-7E8B-6EAECC06F724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 err="1">
                <a:solidFill>
                  <a:schemeClr val="bg1"/>
                </a:solidFill>
              </a:rPr>
              <a:t>Correlation</a:t>
            </a:r>
            <a:r>
              <a:rPr lang="de-DE" sz="2800" b="1" dirty="0">
                <a:solidFill>
                  <a:schemeClr val="bg1"/>
                </a:solidFill>
              </a:rPr>
              <a:t> Analysis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547B2F3F-BB3F-98CE-C33D-2E80B541B743}"/>
              </a:ext>
            </a:extLst>
          </p:cNvPr>
          <p:cNvSpPr/>
          <p:nvPr/>
        </p:nvSpPr>
        <p:spPr>
          <a:xfrm>
            <a:off x="146050" y="1743076"/>
            <a:ext cx="3727450" cy="4486274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BDD60CA-C68B-08AD-9E3E-DC36F3E1C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9" y="2604113"/>
            <a:ext cx="3679751" cy="2878550"/>
          </a:xfrm>
          <a:prstGeom prst="rect">
            <a:avLst/>
          </a:prstGeom>
        </p:spPr>
      </p:pic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0254241-E932-48D1-B3D9-DE9750814218}"/>
              </a:ext>
            </a:extLst>
          </p:cNvPr>
          <p:cNvSpPr/>
          <p:nvPr/>
        </p:nvSpPr>
        <p:spPr>
          <a:xfrm>
            <a:off x="8318500" y="1743076"/>
            <a:ext cx="3727450" cy="4486274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3839EB27-8700-2AE6-7151-C8F960414D8E}"/>
              </a:ext>
            </a:extLst>
          </p:cNvPr>
          <p:cNvSpPr/>
          <p:nvPr/>
        </p:nvSpPr>
        <p:spPr>
          <a:xfrm>
            <a:off x="4232275" y="1743076"/>
            <a:ext cx="3727450" cy="4486274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401B82FD-7A60-B49D-270F-AAC7A1774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424" y="2604112"/>
            <a:ext cx="3613151" cy="2878551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26BA14ED-0692-49A5-9DC7-9AAE7FAA9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644" y="2654300"/>
            <a:ext cx="3337161" cy="275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6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E0C07-8886-302A-A6D8-85BF4CF9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CD5E17E-2AFC-F6D4-490A-C2370E5C38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02450"/>
          </a:xfrm>
          <a:prstGeom prst="rect">
            <a:avLst/>
          </a:prstGeom>
          <a:gradFill flip="none" rotWithShape="1">
            <a:gsLst>
              <a:gs pos="0">
                <a:srgbClr val="D5E3F3"/>
              </a:gs>
              <a:gs pos="100000">
                <a:srgbClr val="DBE7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6F9BE5D-E901-C0A1-7DCC-D4A194A1B993}"/>
              </a:ext>
            </a:extLst>
          </p:cNvPr>
          <p:cNvSpPr txBox="1"/>
          <p:nvPr/>
        </p:nvSpPr>
        <p:spPr>
          <a:xfrm>
            <a:off x="550862" y="808366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 err="1">
                <a:solidFill>
                  <a:schemeClr val="bg1"/>
                </a:solidFill>
              </a:rPr>
              <a:t>Correlation</a:t>
            </a:r>
            <a:r>
              <a:rPr lang="de-DE" sz="2800" b="1" dirty="0">
                <a:solidFill>
                  <a:schemeClr val="bg1"/>
                </a:solidFill>
              </a:rPr>
              <a:t> Analysis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3514161-21F1-1E82-23BB-C1D50411A424}"/>
              </a:ext>
            </a:extLst>
          </p:cNvPr>
          <p:cNvSpPr/>
          <p:nvPr/>
        </p:nvSpPr>
        <p:spPr>
          <a:xfrm>
            <a:off x="146050" y="1743076"/>
            <a:ext cx="3727450" cy="4486274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4328DA68-B2C3-6399-713B-27A0A2533489}"/>
              </a:ext>
            </a:extLst>
          </p:cNvPr>
          <p:cNvSpPr/>
          <p:nvPr/>
        </p:nvSpPr>
        <p:spPr>
          <a:xfrm>
            <a:off x="8318500" y="1743076"/>
            <a:ext cx="3727450" cy="4486274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FAC80A8A-861D-8A2E-556E-7579C4B5B38E}"/>
              </a:ext>
            </a:extLst>
          </p:cNvPr>
          <p:cNvSpPr/>
          <p:nvPr/>
        </p:nvSpPr>
        <p:spPr>
          <a:xfrm>
            <a:off x="4232275" y="1743076"/>
            <a:ext cx="3727450" cy="4486274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F05229D-BDEF-4CAA-1313-EFA629868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37" y="2683326"/>
            <a:ext cx="3473276" cy="278483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5010E5D-7B70-F1E0-A56D-1CBC2C5F8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657" y="2691091"/>
            <a:ext cx="3514686" cy="276930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A81161C-ECAD-12C2-80EC-58737707E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87" y="2588620"/>
            <a:ext cx="3473276" cy="279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2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AC871-967C-B336-94AF-BFCFCC78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B71BB2-D703-72BD-9ACC-7DCDAA856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rgbClr val="C0D0DE"/>
              </a:gs>
              <a:gs pos="65000">
                <a:srgbClr val="A6B8C6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F8098F5-1E60-ED9C-9823-0D598F9309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032500"/>
            <a:ext cx="12192000" cy="825500"/>
          </a:xfrm>
          <a:prstGeom prst="rect">
            <a:avLst/>
          </a:prstGeom>
          <a:solidFill>
            <a:srgbClr val="5B6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CA6962A-23FF-01A4-6F3A-71FE826F62B2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How will the </a:t>
            </a:r>
            <a:r>
              <a:rPr lang="de-DE" sz="2800" b="1" dirty="0" err="1">
                <a:solidFill>
                  <a:schemeClr val="bg1"/>
                </a:solidFill>
              </a:rPr>
              <a:t>question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be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answered</a:t>
            </a:r>
            <a:r>
              <a:rPr lang="de-DE" sz="28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909D9C5-F426-22DB-F062-35C000C14958}"/>
              </a:ext>
            </a:extLst>
          </p:cNvPr>
          <p:cNvSpPr/>
          <p:nvPr/>
        </p:nvSpPr>
        <p:spPr>
          <a:xfrm>
            <a:off x="525618" y="1781825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 err="1">
                <a:solidFill>
                  <a:schemeClr val="tx1"/>
                </a:solidFill>
              </a:rPr>
              <a:t>Correlation</a:t>
            </a:r>
            <a:r>
              <a:rPr lang="de-DE" sz="2400" b="1" dirty="0">
                <a:solidFill>
                  <a:schemeClr val="tx1"/>
                </a:solidFill>
              </a:rPr>
              <a:t> </a:t>
            </a:r>
            <a:r>
              <a:rPr lang="de-DE" sz="2400" b="1" dirty="0" err="1">
                <a:solidFill>
                  <a:schemeClr val="tx1"/>
                </a:solidFill>
              </a:rPr>
              <a:t>is</a:t>
            </a:r>
            <a:r>
              <a:rPr lang="de-DE" sz="2400" b="1" dirty="0">
                <a:solidFill>
                  <a:schemeClr val="tx1"/>
                </a:solidFill>
              </a:rPr>
              <a:t> not </a:t>
            </a:r>
            <a:r>
              <a:rPr lang="de-DE" sz="2400" b="1" dirty="0" err="1">
                <a:solidFill>
                  <a:schemeClr val="tx1"/>
                </a:solidFill>
              </a:rPr>
              <a:t>causation</a:t>
            </a:r>
            <a:endParaRPr lang="de-DE" sz="2400" b="1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A </a:t>
            </a:r>
            <a:r>
              <a:rPr lang="de-DE" dirty="0" err="1">
                <a:solidFill>
                  <a:schemeClr val="tx1"/>
                </a:solidFill>
              </a:rPr>
              <a:t>greener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city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can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be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more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satisfied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without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greenery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being</a:t>
            </a:r>
            <a:r>
              <a:rPr lang="de-DE" dirty="0">
                <a:solidFill>
                  <a:schemeClr val="tx1"/>
                </a:solidFill>
              </a:rPr>
              <a:t> the </a:t>
            </a:r>
            <a:r>
              <a:rPr lang="de-DE" dirty="0" err="1">
                <a:solidFill>
                  <a:schemeClr val="tx1"/>
                </a:solidFill>
              </a:rPr>
              <a:t>reason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2D9A621-6B28-36EF-1ACA-3E26C783D517}"/>
              </a:ext>
            </a:extLst>
          </p:cNvPr>
          <p:cNvSpPr/>
          <p:nvPr/>
        </p:nvSpPr>
        <p:spPr>
          <a:xfrm>
            <a:off x="4506197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Green not </a:t>
            </a:r>
            <a:r>
              <a:rPr lang="de-DE" sz="2400" b="1" dirty="0" err="1">
                <a:solidFill>
                  <a:schemeClr val="tx1"/>
                </a:solidFill>
              </a:rPr>
              <a:t>equal</a:t>
            </a:r>
            <a:r>
              <a:rPr lang="de-DE" sz="2400" b="1" dirty="0">
                <a:solidFill>
                  <a:schemeClr val="tx1"/>
                </a:solidFill>
              </a:rPr>
              <a:t> to </a:t>
            </a:r>
            <a:r>
              <a:rPr lang="de-DE" sz="2400" b="1" dirty="0" err="1">
                <a:solidFill>
                  <a:schemeClr val="tx1"/>
                </a:solidFill>
              </a:rPr>
              <a:t>access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A </a:t>
            </a:r>
            <a:r>
              <a:rPr lang="de-DE" dirty="0" err="1">
                <a:solidFill>
                  <a:schemeClr val="tx1"/>
                </a:solidFill>
              </a:rPr>
              <a:t>city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can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have</a:t>
            </a:r>
            <a:r>
              <a:rPr lang="de-DE" dirty="0">
                <a:solidFill>
                  <a:schemeClr val="tx1"/>
                </a:solidFill>
              </a:rPr>
              <a:t> lots of </a:t>
            </a:r>
            <a:r>
              <a:rPr lang="de-DE" dirty="0" err="1">
                <a:solidFill>
                  <a:schemeClr val="tx1"/>
                </a:solidFill>
              </a:rPr>
              <a:t>green</a:t>
            </a:r>
            <a:r>
              <a:rPr lang="de-DE" dirty="0">
                <a:solidFill>
                  <a:schemeClr val="tx1"/>
                </a:solidFill>
              </a:rPr>
              <a:t> area </a:t>
            </a:r>
            <a:r>
              <a:rPr lang="de-DE" dirty="0" err="1">
                <a:solidFill>
                  <a:schemeClr val="tx1"/>
                </a:solidFill>
              </a:rPr>
              <a:t>that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is</a:t>
            </a:r>
            <a:r>
              <a:rPr lang="de-DE" dirty="0">
                <a:solidFill>
                  <a:schemeClr val="tx1"/>
                </a:solidFill>
              </a:rPr>
              <a:t> not </a:t>
            </a:r>
            <a:r>
              <a:rPr lang="de-DE" dirty="0" err="1">
                <a:solidFill>
                  <a:schemeClr val="tx1"/>
                </a:solidFill>
              </a:rPr>
              <a:t>reachable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or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usable</a:t>
            </a:r>
            <a:r>
              <a:rPr lang="de-DE" dirty="0">
                <a:solidFill>
                  <a:schemeClr val="tx1"/>
                </a:solidFill>
              </a:rPr>
              <a:t> by </a:t>
            </a:r>
            <a:r>
              <a:rPr lang="de-DE" dirty="0" err="1">
                <a:solidFill>
                  <a:schemeClr val="tx1"/>
                </a:solidFill>
              </a:rPr>
              <a:t>residents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A8E85EB-7F9E-5421-255F-2A2E7AA996C2}"/>
              </a:ext>
            </a:extLst>
          </p:cNvPr>
          <p:cNvSpPr/>
          <p:nvPr/>
        </p:nvSpPr>
        <p:spPr>
          <a:xfrm>
            <a:off x="8486774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City </a:t>
            </a:r>
            <a:r>
              <a:rPr lang="de-DE" sz="2400" b="1" dirty="0" err="1">
                <a:solidFill>
                  <a:schemeClr val="tx1"/>
                </a:solidFill>
              </a:rPr>
              <a:t>context</a:t>
            </a:r>
            <a:r>
              <a:rPr lang="de-DE" sz="2400" b="1" dirty="0">
                <a:solidFill>
                  <a:schemeClr val="tx1"/>
                </a:solidFill>
              </a:rPr>
              <a:t> matter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Income, </a:t>
            </a:r>
            <a:r>
              <a:rPr lang="de-DE" dirty="0" err="1">
                <a:solidFill>
                  <a:schemeClr val="tx1"/>
                </a:solidFill>
              </a:rPr>
              <a:t>housing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mobility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climate</a:t>
            </a:r>
            <a:r>
              <a:rPr lang="de-DE" dirty="0">
                <a:solidFill>
                  <a:schemeClr val="tx1"/>
                </a:solidFill>
              </a:rPr>
              <a:t> and </a:t>
            </a:r>
            <a:r>
              <a:rPr lang="de-DE" dirty="0" err="1">
                <a:solidFill>
                  <a:schemeClr val="tx1"/>
                </a:solidFill>
              </a:rPr>
              <a:t>other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differences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shape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life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satisfaction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5D7A8BF-5FF0-37A3-0D77-B5FF8FAAE616}"/>
              </a:ext>
            </a:extLst>
          </p:cNvPr>
          <p:cNvSpPr txBox="1"/>
          <p:nvPr/>
        </p:nvSpPr>
        <p:spPr>
          <a:xfrm>
            <a:off x="0" y="61055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Goal: Find a </a:t>
            </a:r>
            <a:r>
              <a:rPr lang="de-DE" sz="2800" b="1" dirty="0" err="1">
                <a:solidFill>
                  <a:schemeClr val="bg1"/>
                </a:solidFill>
              </a:rPr>
              <a:t>clear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pattern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without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claiming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that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green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causes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happiness</a:t>
            </a:r>
            <a:endParaRPr lang="de-DE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53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78490F9-E0E5-E0AF-5297-61FA8CE1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rgbClr val="C0D0DE"/>
              </a:gs>
              <a:gs pos="65000">
                <a:srgbClr val="A6B8C6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6E00E4D-1487-D0A6-6E0D-9121D7D7F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032500"/>
            <a:ext cx="12192000" cy="825500"/>
          </a:xfrm>
          <a:prstGeom prst="rect">
            <a:avLst/>
          </a:prstGeom>
          <a:solidFill>
            <a:srgbClr val="5B6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2683804-28B0-26F4-FB86-DED899CCAE72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How will the </a:t>
            </a:r>
            <a:r>
              <a:rPr lang="de-DE" sz="2800" b="1" dirty="0" err="1">
                <a:solidFill>
                  <a:schemeClr val="bg1"/>
                </a:solidFill>
              </a:rPr>
              <a:t>question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be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answered</a:t>
            </a:r>
            <a:r>
              <a:rPr lang="de-DE" sz="28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FC4A3A8-6293-7667-B389-766AF18A460E}"/>
              </a:ext>
            </a:extLst>
          </p:cNvPr>
          <p:cNvSpPr/>
          <p:nvPr/>
        </p:nvSpPr>
        <p:spPr>
          <a:xfrm>
            <a:off x="525618" y="1781825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Match </a:t>
            </a:r>
            <a:r>
              <a:rPr lang="de-DE" sz="2800" b="1" dirty="0" err="1">
                <a:solidFill>
                  <a:schemeClr val="tx1"/>
                </a:solidFill>
              </a:rPr>
              <a:t>citites</a:t>
            </a:r>
            <a:endParaRPr lang="de-DE" sz="2800" b="1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Find </a:t>
            </a:r>
            <a:r>
              <a:rPr lang="de-DE" sz="2000" dirty="0" err="1">
                <a:solidFill>
                  <a:schemeClr val="tx1"/>
                </a:solidFill>
              </a:rPr>
              <a:t>cities</a:t>
            </a:r>
            <a:r>
              <a:rPr lang="de-DE" sz="2000" dirty="0">
                <a:solidFill>
                  <a:schemeClr val="tx1"/>
                </a:solidFill>
              </a:rPr>
              <a:t> in the </a:t>
            </a:r>
            <a:r>
              <a:rPr lang="de-DE" sz="2000" dirty="0" err="1">
                <a:solidFill>
                  <a:schemeClr val="tx1"/>
                </a:solidFill>
              </a:rPr>
              <a:t>datasets</a:t>
            </a:r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B4246D6-04A3-D996-46E5-F2847F363AA7}"/>
              </a:ext>
            </a:extLst>
          </p:cNvPr>
          <p:cNvSpPr/>
          <p:nvPr/>
        </p:nvSpPr>
        <p:spPr>
          <a:xfrm>
            <a:off x="4506197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800" b="1" dirty="0" err="1">
                <a:solidFill>
                  <a:schemeClr val="tx1"/>
                </a:solidFill>
              </a:rPr>
              <a:t>Compare</a:t>
            </a:r>
            <a:endParaRPr lang="de-DE" sz="2000" b="1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r>
              <a:rPr lang="de-DE" sz="2000" dirty="0" err="1">
                <a:solidFill>
                  <a:schemeClr val="tx1"/>
                </a:solidFill>
              </a:rPr>
              <a:t>Relate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green-space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share</a:t>
            </a:r>
            <a:r>
              <a:rPr lang="de-DE" sz="2000" dirty="0">
                <a:solidFill>
                  <a:schemeClr val="tx1"/>
                </a:solidFill>
              </a:rPr>
              <a:t> to </a:t>
            </a:r>
            <a:r>
              <a:rPr lang="de-DE" sz="2000" dirty="0" err="1">
                <a:solidFill>
                  <a:schemeClr val="tx1"/>
                </a:solidFill>
              </a:rPr>
              <a:t>reported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life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satisfaction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1AEC9C1-1554-69B1-5FEF-E5976AF22B89}"/>
              </a:ext>
            </a:extLst>
          </p:cNvPr>
          <p:cNvSpPr/>
          <p:nvPr/>
        </p:nvSpPr>
        <p:spPr>
          <a:xfrm>
            <a:off x="8486774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800" b="1" dirty="0" err="1">
                <a:solidFill>
                  <a:schemeClr val="tx1"/>
                </a:solidFill>
              </a:rPr>
              <a:t>Visualise</a:t>
            </a:r>
            <a:endParaRPr lang="de-DE" sz="2000" b="1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Strong </a:t>
            </a:r>
            <a:r>
              <a:rPr lang="de-DE" sz="2000" dirty="0" err="1">
                <a:solidFill>
                  <a:schemeClr val="tx1"/>
                </a:solidFill>
              </a:rPr>
              <a:t>focus</a:t>
            </a:r>
            <a:r>
              <a:rPr lang="de-DE" sz="2000" dirty="0">
                <a:solidFill>
                  <a:schemeClr val="tx1"/>
                </a:solidFill>
              </a:rPr>
              <a:t> on the </a:t>
            </a:r>
            <a:r>
              <a:rPr lang="de-DE" sz="2000" dirty="0" err="1">
                <a:solidFill>
                  <a:schemeClr val="tx1"/>
                </a:solidFill>
              </a:rPr>
              <a:t>visualisation</a:t>
            </a:r>
            <a:r>
              <a:rPr lang="de-DE" sz="2000" dirty="0">
                <a:solidFill>
                  <a:schemeClr val="tx1"/>
                </a:solidFill>
              </a:rPr>
              <a:t> of the </a:t>
            </a:r>
            <a:r>
              <a:rPr lang="de-DE" sz="2000" dirty="0" err="1">
                <a:solidFill>
                  <a:schemeClr val="tx1"/>
                </a:solidFill>
              </a:rPr>
              <a:t>data</a:t>
            </a:r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04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E87361-C678-E69A-ACE2-D3C790CF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13A774D-FF35-52F4-23A1-E7933F959C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rgbClr val="C0D0DE"/>
              </a:gs>
              <a:gs pos="65000">
                <a:srgbClr val="A6B8C6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38931FE-4B58-CD3F-4C18-89D33F37D2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032500"/>
            <a:ext cx="12192000" cy="825500"/>
          </a:xfrm>
          <a:prstGeom prst="rect">
            <a:avLst/>
          </a:prstGeom>
          <a:solidFill>
            <a:srgbClr val="5B6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768D11B-2897-72ED-4035-D91237BDFB1F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Work </a:t>
            </a:r>
            <a:r>
              <a:rPr lang="de-DE" sz="2800" b="1" dirty="0" err="1">
                <a:solidFill>
                  <a:schemeClr val="bg1"/>
                </a:solidFill>
              </a:rPr>
              <a:t>approach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F58C852-73E9-102D-A8FF-6DECA2EDE1B1}"/>
              </a:ext>
            </a:extLst>
          </p:cNvPr>
          <p:cNvSpPr/>
          <p:nvPr/>
        </p:nvSpPr>
        <p:spPr>
          <a:xfrm>
            <a:off x="652462" y="1476371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Find  &amp; Clean the </a:t>
            </a:r>
            <a:r>
              <a:rPr lang="de-DE" sz="2000" dirty="0" err="1">
                <a:solidFill>
                  <a:schemeClr val="tx1"/>
                </a:solidFill>
              </a:rPr>
              <a:t>data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B43B3C6-5FA9-60C2-80C5-4295E80B9EAA}"/>
              </a:ext>
            </a:extLst>
          </p:cNvPr>
          <p:cNvSpPr/>
          <p:nvPr/>
        </p:nvSpPr>
        <p:spPr>
          <a:xfrm>
            <a:off x="652462" y="2562876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Match the </a:t>
            </a:r>
            <a:r>
              <a:rPr lang="de-DE" sz="2000" dirty="0" err="1">
                <a:solidFill>
                  <a:schemeClr val="tx1"/>
                </a:solidFill>
              </a:rPr>
              <a:t>data</a:t>
            </a:r>
            <a:r>
              <a:rPr lang="de-DE" sz="2000" dirty="0">
                <a:solidFill>
                  <a:schemeClr val="tx1"/>
                </a:solidFill>
              </a:rPr>
              <a:t> to the </a:t>
            </a:r>
            <a:r>
              <a:rPr lang="de-DE" sz="2000" dirty="0" err="1">
                <a:solidFill>
                  <a:schemeClr val="tx1"/>
                </a:solidFill>
              </a:rPr>
              <a:t>cities</a:t>
            </a:r>
            <a:r>
              <a:rPr lang="de-DE" sz="2000" dirty="0">
                <a:solidFill>
                  <a:schemeClr val="tx1"/>
                </a:solidFill>
              </a:rPr>
              <a:t>, </a:t>
            </a:r>
            <a:r>
              <a:rPr lang="de-DE" sz="2000" dirty="0" err="1">
                <a:solidFill>
                  <a:schemeClr val="tx1"/>
                </a:solidFill>
              </a:rPr>
              <a:t>keeping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only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cities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that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can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be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comapred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reliably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B1218EA2-E101-F91E-C562-212A6EE4F949}"/>
              </a:ext>
            </a:extLst>
          </p:cNvPr>
          <p:cNvSpPr/>
          <p:nvPr/>
        </p:nvSpPr>
        <p:spPr>
          <a:xfrm>
            <a:off x="652462" y="3649381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Analyse and </a:t>
            </a:r>
            <a:r>
              <a:rPr lang="de-DE" sz="2000" dirty="0" err="1">
                <a:solidFill>
                  <a:schemeClr val="tx1"/>
                </a:solidFill>
              </a:rPr>
              <a:t>test</a:t>
            </a:r>
            <a:r>
              <a:rPr lang="de-DE" sz="2000" dirty="0">
                <a:solidFill>
                  <a:schemeClr val="tx1"/>
                </a:solidFill>
              </a:rPr>
              <a:t> the </a:t>
            </a:r>
            <a:r>
              <a:rPr lang="de-DE" sz="2000" dirty="0" err="1">
                <a:solidFill>
                  <a:schemeClr val="tx1"/>
                </a:solidFill>
              </a:rPr>
              <a:t>the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correlation</a:t>
            </a:r>
            <a:r>
              <a:rPr lang="de-DE" sz="2000" dirty="0">
                <a:solidFill>
                  <a:schemeClr val="tx1"/>
                </a:solidFill>
              </a:rPr>
              <a:t>; </a:t>
            </a:r>
            <a:r>
              <a:rPr lang="de-DE" sz="2000" dirty="0" err="1">
                <a:solidFill>
                  <a:schemeClr val="tx1"/>
                </a:solidFill>
              </a:rPr>
              <a:t>flag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outliers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9200718-4473-BDFD-30D6-1E69EAE4C186}"/>
              </a:ext>
            </a:extLst>
          </p:cNvPr>
          <p:cNvSpPr/>
          <p:nvPr/>
        </p:nvSpPr>
        <p:spPr>
          <a:xfrm>
            <a:off x="652462" y="4735886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chemeClr val="tx1"/>
                </a:solidFill>
              </a:rPr>
              <a:t>Visualize</a:t>
            </a:r>
            <a:r>
              <a:rPr lang="de-DE" sz="2000" dirty="0">
                <a:solidFill>
                  <a:schemeClr val="tx1"/>
                </a:solidFill>
              </a:rPr>
              <a:t> the </a:t>
            </a:r>
            <a:r>
              <a:rPr lang="de-DE" sz="2000" dirty="0" err="1">
                <a:solidFill>
                  <a:schemeClr val="tx1"/>
                </a:solidFill>
              </a:rPr>
              <a:t>data</a:t>
            </a:r>
            <a:endParaRPr lang="de-DE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995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428</Words>
  <Application>Microsoft Office PowerPoint</Application>
  <PresentationFormat>Breitbild</PresentationFormat>
  <Paragraphs>171</Paragraphs>
  <Slides>13</Slides>
  <Notes>1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Are greener cities happier?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R</dc:creator>
  <cp:lastModifiedBy>Robert R</cp:lastModifiedBy>
  <cp:revision>5</cp:revision>
  <dcterms:created xsi:type="dcterms:W3CDTF">2026-10-06T16:05:39Z</dcterms:created>
  <dcterms:modified xsi:type="dcterms:W3CDTF">2026-10-14T12:40:02Z</dcterms:modified>
</cp:coreProperties>
</file>